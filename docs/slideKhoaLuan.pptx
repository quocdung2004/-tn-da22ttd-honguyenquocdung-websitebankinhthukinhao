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4" d="100"/>
          <a:sy n="104" d="100"/>
        </p:scale>
        <p:origin x="144"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0DB7D-A793-32FA-189D-5DB25E5FF5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0D8E4431-BF35-E17E-A9FB-7F7FCEC63F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DB44F0D1-166B-9CBB-693A-DE07F764B8AE}"/>
              </a:ext>
            </a:extLst>
          </p:cNvPr>
          <p:cNvSpPr>
            <a:spLocks noGrp="1"/>
          </p:cNvSpPr>
          <p:nvPr>
            <p:ph type="dt" sz="half" idx="10"/>
          </p:nvPr>
        </p:nvSpPr>
        <p:spPr/>
        <p:txBody>
          <a:bodyPr/>
          <a:lstStyle/>
          <a:p>
            <a:fld id="{8A0B61EF-DE1C-4E01-A987-265ED4DC1E34}" type="datetimeFigureOut">
              <a:rPr lang="vi-VN" smtClean="0"/>
              <a:t>07/07/2026</a:t>
            </a:fld>
            <a:endParaRPr lang="vi-VN"/>
          </a:p>
        </p:txBody>
      </p:sp>
      <p:sp>
        <p:nvSpPr>
          <p:cNvPr id="5" name="Footer Placeholder 4">
            <a:extLst>
              <a:ext uri="{FF2B5EF4-FFF2-40B4-BE49-F238E27FC236}">
                <a16:creationId xmlns:a16="http://schemas.microsoft.com/office/drawing/2014/main" id="{F21BFB6A-49D6-9C85-BE31-F70B56DB43E4}"/>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A091A8FE-18D2-D3C4-2886-3CA9C17F1598}"/>
              </a:ext>
            </a:extLst>
          </p:cNvPr>
          <p:cNvSpPr>
            <a:spLocks noGrp="1"/>
          </p:cNvSpPr>
          <p:nvPr>
            <p:ph type="sldNum" sz="quarter" idx="12"/>
          </p:nvPr>
        </p:nvSpPr>
        <p:spPr/>
        <p:txBody>
          <a:bodyPr/>
          <a:lstStyle/>
          <a:p>
            <a:fld id="{1B5F4FBD-888E-47EA-8C75-A7ECFE3A0F78}" type="slidenum">
              <a:rPr lang="vi-VN" smtClean="0"/>
              <a:t>‹#›</a:t>
            </a:fld>
            <a:endParaRPr lang="vi-VN"/>
          </a:p>
        </p:txBody>
      </p:sp>
    </p:spTree>
    <p:extLst>
      <p:ext uri="{BB962C8B-B14F-4D97-AF65-F5344CB8AC3E}">
        <p14:creationId xmlns:p14="http://schemas.microsoft.com/office/powerpoint/2010/main" val="4275962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E05A9-75F4-9C32-B488-1AED759AC3DB}"/>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4A247EB6-083D-185D-DC8D-F370E50D37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69D23138-5D8B-9C6F-3C41-8F6B79F6F49C}"/>
              </a:ext>
            </a:extLst>
          </p:cNvPr>
          <p:cNvSpPr>
            <a:spLocks noGrp="1"/>
          </p:cNvSpPr>
          <p:nvPr>
            <p:ph type="dt" sz="half" idx="10"/>
          </p:nvPr>
        </p:nvSpPr>
        <p:spPr/>
        <p:txBody>
          <a:bodyPr/>
          <a:lstStyle/>
          <a:p>
            <a:fld id="{8A0B61EF-DE1C-4E01-A987-265ED4DC1E34}" type="datetimeFigureOut">
              <a:rPr lang="vi-VN" smtClean="0"/>
              <a:t>07/07/2026</a:t>
            </a:fld>
            <a:endParaRPr lang="vi-VN"/>
          </a:p>
        </p:txBody>
      </p:sp>
      <p:sp>
        <p:nvSpPr>
          <p:cNvPr id="5" name="Footer Placeholder 4">
            <a:extLst>
              <a:ext uri="{FF2B5EF4-FFF2-40B4-BE49-F238E27FC236}">
                <a16:creationId xmlns:a16="http://schemas.microsoft.com/office/drawing/2014/main" id="{87B45B74-6DE3-7864-A040-93E7D4DCBEAD}"/>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878FE001-9DD5-D62E-1727-17FBEC8E3EA7}"/>
              </a:ext>
            </a:extLst>
          </p:cNvPr>
          <p:cNvSpPr>
            <a:spLocks noGrp="1"/>
          </p:cNvSpPr>
          <p:nvPr>
            <p:ph type="sldNum" sz="quarter" idx="12"/>
          </p:nvPr>
        </p:nvSpPr>
        <p:spPr/>
        <p:txBody>
          <a:bodyPr/>
          <a:lstStyle/>
          <a:p>
            <a:fld id="{1B5F4FBD-888E-47EA-8C75-A7ECFE3A0F78}" type="slidenum">
              <a:rPr lang="vi-VN" smtClean="0"/>
              <a:t>‹#›</a:t>
            </a:fld>
            <a:endParaRPr lang="vi-VN"/>
          </a:p>
        </p:txBody>
      </p:sp>
    </p:spTree>
    <p:extLst>
      <p:ext uri="{BB962C8B-B14F-4D97-AF65-F5344CB8AC3E}">
        <p14:creationId xmlns:p14="http://schemas.microsoft.com/office/powerpoint/2010/main" val="974777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4DF9D-0FFB-01EC-68DD-93E8A04828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D2FBE8BA-A2A2-942A-F6F3-178BA7C3C3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2A6B0D-A007-A093-DD51-DB3EE3576561}"/>
              </a:ext>
            </a:extLst>
          </p:cNvPr>
          <p:cNvSpPr>
            <a:spLocks noGrp="1"/>
          </p:cNvSpPr>
          <p:nvPr>
            <p:ph type="dt" sz="half" idx="10"/>
          </p:nvPr>
        </p:nvSpPr>
        <p:spPr/>
        <p:txBody>
          <a:bodyPr/>
          <a:lstStyle/>
          <a:p>
            <a:fld id="{8A0B61EF-DE1C-4E01-A987-265ED4DC1E34}" type="datetimeFigureOut">
              <a:rPr lang="vi-VN" smtClean="0"/>
              <a:t>07/07/2026</a:t>
            </a:fld>
            <a:endParaRPr lang="vi-VN"/>
          </a:p>
        </p:txBody>
      </p:sp>
      <p:sp>
        <p:nvSpPr>
          <p:cNvPr id="5" name="Footer Placeholder 4">
            <a:extLst>
              <a:ext uri="{FF2B5EF4-FFF2-40B4-BE49-F238E27FC236}">
                <a16:creationId xmlns:a16="http://schemas.microsoft.com/office/drawing/2014/main" id="{EA8CBA8D-A6BC-C070-F9CD-7DD00C5FCE9A}"/>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FC5DB070-D03A-605D-3D27-5DB6C4E55A5C}"/>
              </a:ext>
            </a:extLst>
          </p:cNvPr>
          <p:cNvSpPr>
            <a:spLocks noGrp="1"/>
          </p:cNvSpPr>
          <p:nvPr>
            <p:ph type="sldNum" sz="quarter" idx="12"/>
          </p:nvPr>
        </p:nvSpPr>
        <p:spPr/>
        <p:txBody>
          <a:bodyPr/>
          <a:lstStyle/>
          <a:p>
            <a:fld id="{1B5F4FBD-888E-47EA-8C75-A7ECFE3A0F78}" type="slidenum">
              <a:rPr lang="vi-VN" smtClean="0"/>
              <a:t>‹#›</a:t>
            </a:fld>
            <a:endParaRPr lang="vi-VN"/>
          </a:p>
        </p:txBody>
      </p:sp>
    </p:spTree>
    <p:extLst>
      <p:ext uri="{BB962C8B-B14F-4D97-AF65-F5344CB8AC3E}">
        <p14:creationId xmlns:p14="http://schemas.microsoft.com/office/powerpoint/2010/main" val="608327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6F60C-D6C4-B74C-E2F8-DEAC3CACB395}"/>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4F6F5F1F-B046-D18F-6817-260FEBA107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9335AA5B-62AC-C2EF-A3E5-78452A6CB7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D0A44800-5E87-F9FD-C713-948703E1B7E8}"/>
              </a:ext>
            </a:extLst>
          </p:cNvPr>
          <p:cNvSpPr>
            <a:spLocks noGrp="1"/>
          </p:cNvSpPr>
          <p:nvPr>
            <p:ph type="dt" sz="half" idx="10"/>
          </p:nvPr>
        </p:nvSpPr>
        <p:spPr/>
        <p:txBody>
          <a:bodyPr/>
          <a:lstStyle/>
          <a:p>
            <a:fld id="{8A0B61EF-DE1C-4E01-A987-265ED4DC1E34}" type="datetimeFigureOut">
              <a:rPr lang="vi-VN" smtClean="0"/>
              <a:t>07/07/2026</a:t>
            </a:fld>
            <a:endParaRPr lang="vi-VN"/>
          </a:p>
        </p:txBody>
      </p:sp>
      <p:sp>
        <p:nvSpPr>
          <p:cNvPr id="6" name="Footer Placeholder 5">
            <a:extLst>
              <a:ext uri="{FF2B5EF4-FFF2-40B4-BE49-F238E27FC236}">
                <a16:creationId xmlns:a16="http://schemas.microsoft.com/office/drawing/2014/main" id="{C94ECE14-AC99-671F-F32E-02C5CF06343D}"/>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B51116EC-01C3-6F48-3043-CE4594C2CC1F}"/>
              </a:ext>
            </a:extLst>
          </p:cNvPr>
          <p:cNvSpPr>
            <a:spLocks noGrp="1"/>
          </p:cNvSpPr>
          <p:nvPr>
            <p:ph type="sldNum" sz="quarter" idx="12"/>
          </p:nvPr>
        </p:nvSpPr>
        <p:spPr/>
        <p:txBody>
          <a:bodyPr/>
          <a:lstStyle/>
          <a:p>
            <a:fld id="{1B5F4FBD-888E-47EA-8C75-A7ECFE3A0F78}" type="slidenum">
              <a:rPr lang="vi-VN" smtClean="0"/>
              <a:t>‹#›</a:t>
            </a:fld>
            <a:endParaRPr lang="vi-VN"/>
          </a:p>
        </p:txBody>
      </p:sp>
    </p:spTree>
    <p:extLst>
      <p:ext uri="{BB962C8B-B14F-4D97-AF65-F5344CB8AC3E}">
        <p14:creationId xmlns:p14="http://schemas.microsoft.com/office/powerpoint/2010/main" val="1405516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44C32-02DC-62BE-FDC4-1BF184CF00A7}"/>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41C9C202-C812-263A-CB19-B7D51F2D03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0D72CD-DA6F-E37A-FAAD-95BAE1BDBE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BF894BA2-440F-AE97-6FFF-368FCD1994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95EE81-68A4-5F3B-B719-9BAD19FFB0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C8FFD4E1-CA82-5760-F1D1-79ED04361294}"/>
              </a:ext>
            </a:extLst>
          </p:cNvPr>
          <p:cNvSpPr>
            <a:spLocks noGrp="1"/>
          </p:cNvSpPr>
          <p:nvPr>
            <p:ph type="dt" sz="half" idx="10"/>
          </p:nvPr>
        </p:nvSpPr>
        <p:spPr/>
        <p:txBody>
          <a:bodyPr/>
          <a:lstStyle/>
          <a:p>
            <a:fld id="{8A0B61EF-DE1C-4E01-A987-265ED4DC1E34}" type="datetimeFigureOut">
              <a:rPr lang="vi-VN" smtClean="0"/>
              <a:t>07/07/2026</a:t>
            </a:fld>
            <a:endParaRPr lang="vi-VN"/>
          </a:p>
        </p:txBody>
      </p:sp>
      <p:sp>
        <p:nvSpPr>
          <p:cNvPr id="8" name="Footer Placeholder 7">
            <a:extLst>
              <a:ext uri="{FF2B5EF4-FFF2-40B4-BE49-F238E27FC236}">
                <a16:creationId xmlns:a16="http://schemas.microsoft.com/office/drawing/2014/main" id="{2539320F-48F3-C1D2-CAFC-6E83A2679D04}"/>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9F163B2C-2D18-736B-6CD8-3D3152AEF4FC}"/>
              </a:ext>
            </a:extLst>
          </p:cNvPr>
          <p:cNvSpPr>
            <a:spLocks noGrp="1"/>
          </p:cNvSpPr>
          <p:nvPr>
            <p:ph type="sldNum" sz="quarter" idx="12"/>
          </p:nvPr>
        </p:nvSpPr>
        <p:spPr/>
        <p:txBody>
          <a:bodyPr/>
          <a:lstStyle/>
          <a:p>
            <a:fld id="{1B5F4FBD-888E-47EA-8C75-A7ECFE3A0F78}" type="slidenum">
              <a:rPr lang="vi-VN" smtClean="0"/>
              <a:t>‹#›</a:t>
            </a:fld>
            <a:endParaRPr lang="vi-VN"/>
          </a:p>
        </p:txBody>
      </p:sp>
    </p:spTree>
    <p:extLst>
      <p:ext uri="{BB962C8B-B14F-4D97-AF65-F5344CB8AC3E}">
        <p14:creationId xmlns:p14="http://schemas.microsoft.com/office/powerpoint/2010/main" val="968020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CE359-BF5C-E16F-AF62-DD13AE547549}"/>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EABA5B14-A596-CDD3-D275-EA703137A2FA}"/>
              </a:ext>
            </a:extLst>
          </p:cNvPr>
          <p:cNvSpPr>
            <a:spLocks noGrp="1"/>
          </p:cNvSpPr>
          <p:nvPr>
            <p:ph type="dt" sz="half" idx="10"/>
          </p:nvPr>
        </p:nvSpPr>
        <p:spPr/>
        <p:txBody>
          <a:bodyPr/>
          <a:lstStyle/>
          <a:p>
            <a:fld id="{8A0B61EF-DE1C-4E01-A987-265ED4DC1E34}" type="datetimeFigureOut">
              <a:rPr lang="vi-VN" smtClean="0"/>
              <a:t>07/07/2026</a:t>
            </a:fld>
            <a:endParaRPr lang="vi-VN"/>
          </a:p>
        </p:txBody>
      </p:sp>
      <p:sp>
        <p:nvSpPr>
          <p:cNvPr id="4" name="Footer Placeholder 3">
            <a:extLst>
              <a:ext uri="{FF2B5EF4-FFF2-40B4-BE49-F238E27FC236}">
                <a16:creationId xmlns:a16="http://schemas.microsoft.com/office/drawing/2014/main" id="{9679CC33-97F4-1532-F26D-D98D2F05CD05}"/>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DD5CB811-3F64-5BC5-CC16-0094BEA4A016}"/>
              </a:ext>
            </a:extLst>
          </p:cNvPr>
          <p:cNvSpPr>
            <a:spLocks noGrp="1"/>
          </p:cNvSpPr>
          <p:nvPr>
            <p:ph type="sldNum" sz="quarter" idx="12"/>
          </p:nvPr>
        </p:nvSpPr>
        <p:spPr/>
        <p:txBody>
          <a:bodyPr/>
          <a:lstStyle/>
          <a:p>
            <a:fld id="{1B5F4FBD-888E-47EA-8C75-A7ECFE3A0F78}" type="slidenum">
              <a:rPr lang="vi-VN" smtClean="0"/>
              <a:t>‹#›</a:t>
            </a:fld>
            <a:endParaRPr lang="vi-VN"/>
          </a:p>
        </p:txBody>
      </p:sp>
    </p:spTree>
    <p:extLst>
      <p:ext uri="{BB962C8B-B14F-4D97-AF65-F5344CB8AC3E}">
        <p14:creationId xmlns:p14="http://schemas.microsoft.com/office/powerpoint/2010/main" val="3378358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E3EAB6-1DA1-99A8-712D-0A632718D1F4}"/>
              </a:ext>
            </a:extLst>
          </p:cNvPr>
          <p:cNvSpPr>
            <a:spLocks noGrp="1"/>
          </p:cNvSpPr>
          <p:nvPr>
            <p:ph type="dt" sz="half" idx="10"/>
          </p:nvPr>
        </p:nvSpPr>
        <p:spPr/>
        <p:txBody>
          <a:bodyPr/>
          <a:lstStyle/>
          <a:p>
            <a:fld id="{8A0B61EF-DE1C-4E01-A987-265ED4DC1E34}" type="datetimeFigureOut">
              <a:rPr lang="vi-VN" smtClean="0"/>
              <a:t>07/07/2026</a:t>
            </a:fld>
            <a:endParaRPr lang="vi-VN"/>
          </a:p>
        </p:txBody>
      </p:sp>
      <p:sp>
        <p:nvSpPr>
          <p:cNvPr id="3" name="Footer Placeholder 2">
            <a:extLst>
              <a:ext uri="{FF2B5EF4-FFF2-40B4-BE49-F238E27FC236}">
                <a16:creationId xmlns:a16="http://schemas.microsoft.com/office/drawing/2014/main" id="{3FE63AAD-2AE3-A747-D721-1A4E57444230}"/>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25E0CB16-4622-E909-A9A2-84095931B1FB}"/>
              </a:ext>
            </a:extLst>
          </p:cNvPr>
          <p:cNvSpPr>
            <a:spLocks noGrp="1"/>
          </p:cNvSpPr>
          <p:nvPr>
            <p:ph type="sldNum" sz="quarter" idx="12"/>
          </p:nvPr>
        </p:nvSpPr>
        <p:spPr/>
        <p:txBody>
          <a:bodyPr/>
          <a:lstStyle/>
          <a:p>
            <a:fld id="{1B5F4FBD-888E-47EA-8C75-A7ECFE3A0F78}" type="slidenum">
              <a:rPr lang="vi-VN" smtClean="0"/>
              <a:t>‹#›</a:t>
            </a:fld>
            <a:endParaRPr lang="vi-VN"/>
          </a:p>
        </p:txBody>
      </p:sp>
    </p:spTree>
    <p:extLst>
      <p:ext uri="{BB962C8B-B14F-4D97-AF65-F5344CB8AC3E}">
        <p14:creationId xmlns:p14="http://schemas.microsoft.com/office/powerpoint/2010/main" val="395453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4416D-E6D8-0157-96F1-6607B05139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A6165799-8DF0-BA3B-4D66-582FEF4BFD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B785BE53-E2D8-50AA-204E-72E52B9097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5B409D-D333-D24A-702C-CE5496F3D340}"/>
              </a:ext>
            </a:extLst>
          </p:cNvPr>
          <p:cNvSpPr>
            <a:spLocks noGrp="1"/>
          </p:cNvSpPr>
          <p:nvPr>
            <p:ph type="dt" sz="half" idx="10"/>
          </p:nvPr>
        </p:nvSpPr>
        <p:spPr/>
        <p:txBody>
          <a:bodyPr/>
          <a:lstStyle/>
          <a:p>
            <a:fld id="{8A0B61EF-DE1C-4E01-A987-265ED4DC1E34}" type="datetimeFigureOut">
              <a:rPr lang="vi-VN" smtClean="0"/>
              <a:t>07/07/2026</a:t>
            </a:fld>
            <a:endParaRPr lang="vi-VN"/>
          </a:p>
        </p:txBody>
      </p:sp>
      <p:sp>
        <p:nvSpPr>
          <p:cNvPr id="6" name="Footer Placeholder 5">
            <a:extLst>
              <a:ext uri="{FF2B5EF4-FFF2-40B4-BE49-F238E27FC236}">
                <a16:creationId xmlns:a16="http://schemas.microsoft.com/office/drawing/2014/main" id="{5FD912BC-9990-3B36-2DEF-17A0545F392C}"/>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93E5A39F-BB5D-0C1C-8936-53C4AD583CC0}"/>
              </a:ext>
            </a:extLst>
          </p:cNvPr>
          <p:cNvSpPr>
            <a:spLocks noGrp="1"/>
          </p:cNvSpPr>
          <p:nvPr>
            <p:ph type="sldNum" sz="quarter" idx="12"/>
          </p:nvPr>
        </p:nvSpPr>
        <p:spPr/>
        <p:txBody>
          <a:bodyPr/>
          <a:lstStyle/>
          <a:p>
            <a:fld id="{1B5F4FBD-888E-47EA-8C75-A7ECFE3A0F78}" type="slidenum">
              <a:rPr lang="vi-VN" smtClean="0"/>
              <a:t>‹#›</a:t>
            </a:fld>
            <a:endParaRPr lang="vi-VN"/>
          </a:p>
        </p:txBody>
      </p:sp>
    </p:spTree>
    <p:extLst>
      <p:ext uri="{BB962C8B-B14F-4D97-AF65-F5344CB8AC3E}">
        <p14:creationId xmlns:p14="http://schemas.microsoft.com/office/powerpoint/2010/main" val="591947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23431-B16A-0050-CBA4-36C5E775EB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550B9785-1AD1-989A-42BA-E741306583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B250DE80-58E7-D060-384F-E3F9F25BB4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F589D2-7864-34D2-6F3C-81C5B80D33BF}"/>
              </a:ext>
            </a:extLst>
          </p:cNvPr>
          <p:cNvSpPr>
            <a:spLocks noGrp="1"/>
          </p:cNvSpPr>
          <p:nvPr>
            <p:ph type="dt" sz="half" idx="10"/>
          </p:nvPr>
        </p:nvSpPr>
        <p:spPr/>
        <p:txBody>
          <a:bodyPr/>
          <a:lstStyle/>
          <a:p>
            <a:fld id="{8A0B61EF-DE1C-4E01-A987-265ED4DC1E34}" type="datetimeFigureOut">
              <a:rPr lang="vi-VN" smtClean="0"/>
              <a:t>07/07/2026</a:t>
            </a:fld>
            <a:endParaRPr lang="vi-VN"/>
          </a:p>
        </p:txBody>
      </p:sp>
      <p:sp>
        <p:nvSpPr>
          <p:cNvPr id="6" name="Footer Placeholder 5">
            <a:extLst>
              <a:ext uri="{FF2B5EF4-FFF2-40B4-BE49-F238E27FC236}">
                <a16:creationId xmlns:a16="http://schemas.microsoft.com/office/drawing/2014/main" id="{C078D8DC-5D83-B12F-01B6-1EAEC5984092}"/>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ED62D1A1-05B7-043E-503E-8E90BE1B1687}"/>
              </a:ext>
            </a:extLst>
          </p:cNvPr>
          <p:cNvSpPr>
            <a:spLocks noGrp="1"/>
          </p:cNvSpPr>
          <p:nvPr>
            <p:ph type="sldNum" sz="quarter" idx="12"/>
          </p:nvPr>
        </p:nvSpPr>
        <p:spPr/>
        <p:txBody>
          <a:bodyPr/>
          <a:lstStyle/>
          <a:p>
            <a:fld id="{1B5F4FBD-888E-47EA-8C75-A7ECFE3A0F78}" type="slidenum">
              <a:rPr lang="vi-VN" smtClean="0"/>
              <a:t>‹#›</a:t>
            </a:fld>
            <a:endParaRPr lang="vi-VN"/>
          </a:p>
        </p:txBody>
      </p:sp>
    </p:spTree>
    <p:extLst>
      <p:ext uri="{BB962C8B-B14F-4D97-AF65-F5344CB8AC3E}">
        <p14:creationId xmlns:p14="http://schemas.microsoft.com/office/powerpoint/2010/main" val="2152897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0FE86-A185-19E5-4B76-C423E8748E88}"/>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6A813526-F491-C91A-C318-B9A5A99EEA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4CB415D2-8ABB-0065-54B2-142A8FF7C623}"/>
              </a:ext>
            </a:extLst>
          </p:cNvPr>
          <p:cNvSpPr>
            <a:spLocks noGrp="1"/>
          </p:cNvSpPr>
          <p:nvPr>
            <p:ph type="dt" sz="half" idx="10"/>
          </p:nvPr>
        </p:nvSpPr>
        <p:spPr/>
        <p:txBody>
          <a:bodyPr/>
          <a:lstStyle/>
          <a:p>
            <a:fld id="{8A0B61EF-DE1C-4E01-A987-265ED4DC1E34}" type="datetimeFigureOut">
              <a:rPr lang="vi-VN" smtClean="0"/>
              <a:t>07/07/2026</a:t>
            </a:fld>
            <a:endParaRPr lang="vi-VN"/>
          </a:p>
        </p:txBody>
      </p:sp>
      <p:sp>
        <p:nvSpPr>
          <p:cNvPr id="5" name="Footer Placeholder 4">
            <a:extLst>
              <a:ext uri="{FF2B5EF4-FFF2-40B4-BE49-F238E27FC236}">
                <a16:creationId xmlns:a16="http://schemas.microsoft.com/office/drawing/2014/main" id="{F3908070-4979-1013-724A-F4F1949CA34D}"/>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220E2CAD-1480-98BF-AE4A-69D01682D0D8}"/>
              </a:ext>
            </a:extLst>
          </p:cNvPr>
          <p:cNvSpPr>
            <a:spLocks noGrp="1"/>
          </p:cNvSpPr>
          <p:nvPr>
            <p:ph type="sldNum" sz="quarter" idx="12"/>
          </p:nvPr>
        </p:nvSpPr>
        <p:spPr/>
        <p:txBody>
          <a:bodyPr/>
          <a:lstStyle/>
          <a:p>
            <a:fld id="{1B5F4FBD-888E-47EA-8C75-A7ECFE3A0F78}" type="slidenum">
              <a:rPr lang="vi-VN" smtClean="0"/>
              <a:t>‹#›</a:t>
            </a:fld>
            <a:endParaRPr lang="vi-VN"/>
          </a:p>
        </p:txBody>
      </p:sp>
    </p:spTree>
    <p:extLst>
      <p:ext uri="{BB962C8B-B14F-4D97-AF65-F5344CB8AC3E}">
        <p14:creationId xmlns:p14="http://schemas.microsoft.com/office/powerpoint/2010/main" val="3644455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582856-42A6-49E0-646C-F7EE7C1A118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774E3438-E3CD-1C51-B432-5EA4F2FEE04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865F360A-3C29-79CC-AEEE-7E985935262A}"/>
              </a:ext>
            </a:extLst>
          </p:cNvPr>
          <p:cNvSpPr>
            <a:spLocks noGrp="1"/>
          </p:cNvSpPr>
          <p:nvPr>
            <p:ph type="dt" sz="half" idx="10"/>
          </p:nvPr>
        </p:nvSpPr>
        <p:spPr/>
        <p:txBody>
          <a:bodyPr/>
          <a:lstStyle/>
          <a:p>
            <a:fld id="{8A0B61EF-DE1C-4E01-A987-265ED4DC1E34}" type="datetimeFigureOut">
              <a:rPr lang="vi-VN" smtClean="0"/>
              <a:t>07/07/2026</a:t>
            </a:fld>
            <a:endParaRPr lang="vi-VN"/>
          </a:p>
        </p:txBody>
      </p:sp>
      <p:sp>
        <p:nvSpPr>
          <p:cNvPr id="5" name="Footer Placeholder 4">
            <a:extLst>
              <a:ext uri="{FF2B5EF4-FFF2-40B4-BE49-F238E27FC236}">
                <a16:creationId xmlns:a16="http://schemas.microsoft.com/office/drawing/2014/main" id="{C9710C77-A079-B3A6-FDFD-63470EA253AD}"/>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6BD68008-D20D-AF11-984B-ADBB2C526EC3}"/>
              </a:ext>
            </a:extLst>
          </p:cNvPr>
          <p:cNvSpPr>
            <a:spLocks noGrp="1"/>
          </p:cNvSpPr>
          <p:nvPr>
            <p:ph type="sldNum" sz="quarter" idx="12"/>
          </p:nvPr>
        </p:nvSpPr>
        <p:spPr/>
        <p:txBody>
          <a:bodyPr/>
          <a:lstStyle/>
          <a:p>
            <a:fld id="{1B5F4FBD-888E-47EA-8C75-A7ECFE3A0F78}" type="slidenum">
              <a:rPr lang="vi-VN" smtClean="0"/>
              <a:t>‹#›</a:t>
            </a:fld>
            <a:endParaRPr lang="vi-VN"/>
          </a:p>
        </p:txBody>
      </p:sp>
    </p:spTree>
    <p:extLst>
      <p:ext uri="{BB962C8B-B14F-4D97-AF65-F5344CB8AC3E}">
        <p14:creationId xmlns:p14="http://schemas.microsoft.com/office/powerpoint/2010/main" val="1615338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D7A898-F4AE-0A1E-C772-92A7E745AC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F7AE9F4C-40C2-C62E-5608-03B6DD864A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08812128-C029-0DF1-A9C1-A93D9BEC5F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0B61EF-DE1C-4E01-A987-265ED4DC1E34}" type="datetimeFigureOut">
              <a:rPr lang="vi-VN" smtClean="0"/>
              <a:t>07/07/2026</a:t>
            </a:fld>
            <a:endParaRPr lang="vi-VN"/>
          </a:p>
        </p:txBody>
      </p:sp>
      <p:sp>
        <p:nvSpPr>
          <p:cNvPr id="5" name="Footer Placeholder 4">
            <a:extLst>
              <a:ext uri="{FF2B5EF4-FFF2-40B4-BE49-F238E27FC236}">
                <a16:creationId xmlns:a16="http://schemas.microsoft.com/office/drawing/2014/main" id="{D3B97A5F-CEB9-ED97-561B-1B61822012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a:extLst>
              <a:ext uri="{FF2B5EF4-FFF2-40B4-BE49-F238E27FC236}">
                <a16:creationId xmlns:a16="http://schemas.microsoft.com/office/drawing/2014/main" id="{C0F16742-D6FC-0260-BB36-46327C44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5F4FBD-888E-47EA-8C75-A7ECFE3A0F78}" type="slidenum">
              <a:rPr lang="vi-VN" smtClean="0"/>
              <a:t>‹#›</a:t>
            </a:fld>
            <a:endParaRPr lang="vi-VN"/>
          </a:p>
        </p:txBody>
      </p:sp>
    </p:spTree>
    <p:extLst>
      <p:ext uri="{BB962C8B-B14F-4D97-AF65-F5344CB8AC3E}">
        <p14:creationId xmlns:p14="http://schemas.microsoft.com/office/powerpoint/2010/main" val="31567523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B29F8-8B33-751E-8E9F-167B63B8816F}"/>
              </a:ext>
            </a:extLst>
          </p:cNvPr>
          <p:cNvSpPr>
            <a:spLocks noGrp="1"/>
          </p:cNvSpPr>
          <p:nvPr>
            <p:ph type="ctrTitle"/>
          </p:nvPr>
        </p:nvSpPr>
        <p:spPr>
          <a:xfrm>
            <a:off x="1524000" y="2199698"/>
            <a:ext cx="9144000" cy="2387600"/>
          </a:xfrm>
        </p:spPr>
        <p:txBody>
          <a:bodyPr>
            <a:normAutofit fontScale="90000"/>
          </a:bodyPr>
          <a:lstStyle/>
          <a:p>
            <a:r>
              <a:rPr lang="en-US" sz="3100" b="1" dirty="0">
                <a:solidFill>
                  <a:srgbClr val="002060"/>
                </a:solidFill>
                <a:latin typeface="Arial" panose="020B0604020202020204" pitchFamily="34" charset="0"/>
                <a:cs typeface="Arial" panose="020B0604020202020204" pitchFamily="34" charset="0"/>
              </a:rPr>
              <a:t>ĐẠI HỌC TRÀ VINH</a:t>
            </a:r>
            <a:br>
              <a:rPr lang="en-US" sz="3100" b="1" dirty="0">
                <a:solidFill>
                  <a:srgbClr val="002060"/>
                </a:solidFill>
                <a:latin typeface="Arial" panose="020B0604020202020204" pitchFamily="34" charset="0"/>
                <a:cs typeface="Arial" panose="020B0604020202020204" pitchFamily="34" charset="0"/>
              </a:rPr>
            </a:br>
            <a:r>
              <a:rPr lang="en-US" sz="2900" b="1" dirty="0">
                <a:solidFill>
                  <a:srgbClr val="002060"/>
                </a:solidFill>
                <a:latin typeface="Arial" panose="020B0604020202020204" pitchFamily="34" charset="0"/>
                <a:cs typeface="Arial" panose="020B0604020202020204" pitchFamily="34" charset="0"/>
              </a:rPr>
              <a:t>TRƯỜNG KỸ THUẬT VÀ CÔNG NGHỆ</a:t>
            </a:r>
            <a:br>
              <a:rPr lang="en-US" sz="3100" b="1" dirty="0">
                <a:latin typeface="Arial" panose="020B0604020202020204" pitchFamily="34" charset="0"/>
                <a:cs typeface="Arial" panose="020B0604020202020204" pitchFamily="34" charset="0"/>
              </a:rPr>
            </a:br>
            <a:br>
              <a:rPr lang="en-US" sz="3100" b="1" dirty="0">
                <a:latin typeface="Arial" panose="020B0604020202020204" pitchFamily="34" charset="0"/>
                <a:cs typeface="Arial" panose="020B0604020202020204" pitchFamily="34" charset="0"/>
              </a:rPr>
            </a:br>
            <a:r>
              <a:rPr lang="en-US" sz="4000" b="1" dirty="0">
                <a:solidFill>
                  <a:schemeClr val="accent1">
                    <a:lumMod val="75000"/>
                  </a:schemeClr>
                </a:solidFill>
                <a:latin typeface="Arial" panose="020B0604020202020204" pitchFamily="34" charset="0"/>
                <a:cs typeface="Arial" panose="020B0604020202020204" pitchFamily="34" charset="0"/>
              </a:rPr>
              <a:t>ĐỒ ÁN TỐT NGHIỆP</a:t>
            </a:r>
            <a:br>
              <a:rPr lang="en-US" sz="4000" b="1" dirty="0">
                <a:latin typeface="Arial" panose="020B0604020202020204" pitchFamily="34" charset="0"/>
                <a:cs typeface="Arial" panose="020B0604020202020204" pitchFamily="34" charset="0"/>
              </a:rPr>
            </a:br>
            <a:br>
              <a:rPr lang="en-US" sz="3100" b="1" dirty="0">
                <a:latin typeface="Arial" panose="020B0604020202020204" pitchFamily="34" charset="0"/>
                <a:cs typeface="Arial" panose="020B0604020202020204" pitchFamily="34" charset="0"/>
              </a:rPr>
            </a:br>
            <a:r>
              <a:rPr lang="en-US" sz="3100" b="1" dirty="0">
                <a:latin typeface="Arial" panose="020B0604020202020204" pitchFamily="34" charset="0"/>
                <a:cs typeface="Arial" panose="020B0604020202020204" pitchFamily="34" charset="0"/>
              </a:rPr>
              <a:t>ĐỀ TÀI:</a:t>
            </a:r>
            <a:br>
              <a:rPr lang="en-US" sz="3100" b="1" dirty="0">
                <a:latin typeface="Arial" panose="020B0604020202020204" pitchFamily="34" charset="0"/>
                <a:cs typeface="Arial" panose="020B0604020202020204" pitchFamily="34" charset="0"/>
              </a:rPr>
            </a:br>
            <a:r>
              <a:rPr lang="en-US" sz="3100" b="1" dirty="0">
                <a:solidFill>
                  <a:srgbClr val="002060"/>
                </a:solidFill>
                <a:latin typeface="Arial" panose="020B0604020202020204" pitchFamily="34" charset="0"/>
                <a:cs typeface="Arial" panose="020B0604020202020204" pitchFamily="34" charset="0"/>
              </a:rPr>
              <a:t>XÂY DỰNG WEBSITE BÁN KÍNH </a:t>
            </a:r>
            <a:br>
              <a:rPr lang="en-US" sz="3100" b="1" dirty="0">
                <a:solidFill>
                  <a:srgbClr val="002060"/>
                </a:solidFill>
                <a:latin typeface="Arial" panose="020B0604020202020204" pitchFamily="34" charset="0"/>
                <a:cs typeface="Arial" panose="020B0604020202020204" pitchFamily="34" charset="0"/>
              </a:rPr>
            </a:br>
            <a:r>
              <a:rPr lang="en-US" sz="3100" b="1" dirty="0">
                <a:solidFill>
                  <a:srgbClr val="002060"/>
                </a:solidFill>
                <a:latin typeface="Arial" panose="020B0604020202020204" pitchFamily="34" charset="0"/>
                <a:cs typeface="Arial" panose="020B0604020202020204" pitchFamily="34" charset="0"/>
              </a:rPr>
              <a:t>TÍCH HỢP CHỨC NĂNG THỬ KÍNH ẢO</a:t>
            </a:r>
            <a:br>
              <a:rPr lang="en-US" dirty="0">
                <a:latin typeface="Arial" panose="020B0604020202020204" pitchFamily="34" charset="0"/>
                <a:cs typeface="Arial" panose="020B0604020202020204" pitchFamily="34" charset="0"/>
              </a:rPr>
            </a:br>
            <a:endParaRPr lang="vi-VN"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14A93D44-FE19-02AC-8D46-38F9DF9CB36A}"/>
              </a:ext>
            </a:extLst>
          </p:cNvPr>
          <p:cNvSpPr>
            <a:spLocks noGrp="1"/>
          </p:cNvSpPr>
          <p:nvPr>
            <p:ph type="subTitle" idx="1"/>
          </p:nvPr>
        </p:nvSpPr>
        <p:spPr>
          <a:xfrm>
            <a:off x="1524000" y="4833306"/>
            <a:ext cx="9144000" cy="1655762"/>
          </a:xfrm>
        </p:spPr>
        <p:txBody>
          <a:bodyPr>
            <a:normAutofit lnSpcReduction="10000"/>
          </a:bodyPr>
          <a:lstStyle/>
          <a:p>
            <a:r>
              <a:rPr lang="en-US" dirty="0"/>
              <a:t>GVHD: TS. Đoàn </a:t>
            </a:r>
            <a:r>
              <a:rPr lang="en-US" dirty="0" err="1"/>
              <a:t>Phước</a:t>
            </a:r>
            <a:r>
              <a:rPr lang="en-US" dirty="0"/>
              <a:t> </a:t>
            </a:r>
            <a:r>
              <a:rPr lang="en-US" dirty="0" err="1"/>
              <a:t>Miền</a:t>
            </a:r>
            <a:endParaRPr lang="en-US" dirty="0"/>
          </a:p>
          <a:p>
            <a:r>
              <a:rPr lang="en-US" dirty="0"/>
              <a:t>SVTH: Hồ Nguyễn Quốc Dũng</a:t>
            </a:r>
          </a:p>
          <a:p>
            <a:r>
              <a:rPr lang="en-US" dirty="0"/>
              <a:t>MSSV: 110122056</a:t>
            </a:r>
          </a:p>
          <a:p>
            <a:r>
              <a:rPr lang="en-US" dirty="0" err="1"/>
              <a:t>Lớp</a:t>
            </a:r>
            <a:r>
              <a:rPr lang="en-US" dirty="0"/>
              <a:t>: DA22TTD</a:t>
            </a:r>
            <a:endParaRPr lang="vi-VN" dirty="0"/>
          </a:p>
        </p:txBody>
      </p:sp>
      <p:pic>
        <p:nvPicPr>
          <p:cNvPr id="4" name="Picture 3" descr="TVU-RGB">
            <a:extLst>
              <a:ext uri="{FF2B5EF4-FFF2-40B4-BE49-F238E27FC236}">
                <a16:creationId xmlns:a16="http://schemas.microsoft.com/office/drawing/2014/main" id="{659D9401-3ED7-AC83-1721-4F85EB16B0D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254401" y="192569"/>
            <a:ext cx="793349" cy="793349"/>
          </a:xfrm>
          <a:prstGeom prst="rect">
            <a:avLst/>
          </a:prstGeom>
          <a:noFill/>
          <a:ln>
            <a:noFill/>
          </a:ln>
        </p:spPr>
      </p:pic>
    </p:spTree>
    <p:extLst>
      <p:ext uri="{BB962C8B-B14F-4D97-AF65-F5344CB8AC3E}">
        <p14:creationId xmlns:p14="http://schemas.microsoft.com/office/powerpoint/2010/main" val="3035924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54F18-2116-C99B-C209-63B072B599A9}"/>
              </a:ext>
            </a:extLst>
          </p:cNvPr>
          <p:cNvSpPr>
            <a:spLocks noGrp="1"/>
          </p:cNvSpPr>
          <p:nvPr>
            <p:ph type="title"/>
          </p:nvPr>
        </p:nvSpPr>
        <p:spPr/>
        <p:txBody>
          <a:bodyPr>
            <a:normAutofit/>
          </a:bodyPr>
          <a:lstStyle/>
          <a:p>
            <a:r>
              <a:rPr lang="en-US" sz="4000" b="1" dirty="0" err="1"/>
              <a:t>Nội</a:t>
            </a:r>
            <a:r>
              <a:rPr lang="en-US" sz="4000" b="1" dirty="0"/>
              <a:t> dung </a:t>
            </a:r>
            <a:r>
              <a:rPr lang="en-US" sz="4000" b="1" dirty="0" err="1"/>
              <a:t>trình</a:t>
            </a:r>
            <a:r>
              <a:rPr lang="en-US" sz="4000" b="1" dirty="0"/>
              <a:t> </a:t>
            </a:r>
            <a:r>
              <a:rPr lang="en-US" sz="4000" b="1" dirty="0" err="1"/>
              <a:t>bày</a:t>
            </a:r>
            <a:r>
              <a:rPr lang="en-US" sz="4000" b="1" dirty="0"/>
              <a:t>:</a:t>
            </a:r>
            <a:endParaRPr lang="vi-VN" sz="4000" b="1" dirty="0"/>
          </a:p>
        </p:txBody>
      </p:sp>
      <p:sp>
        <p:nvSpPr>
          <p:cNvPr id="3" name="Content Placeholder 2">
            <a:extLst>
              <a:ext uri="{FF2B5EF4-FFF2-40B4-BE49-F238E27FC236}">
                <a16:creationId xmlns:a16="http://schemas.microsoft.com/office/drawing/2014/main" id="{CD4BB1E4-C9AB-B7ED-49C0-6372AC4B48AB}"/>
              </a:ext>
            </a:extLst>
          </p:cNvPr>
          <p:cNvSpPr>
            <a:spLocks noGrp="1"/>
          </p:cNvSpPr>
          <p:nvPr>
            <p:ph idx="1"/>
          </p:nvPr>
        </p:nvSpPr>
        <p:spPr/>
        <p:txBody>
          <a:bodyPr/>
          <a:lstStyle/>
          <a:p>
            <a:pPr marL="514350" indent="-514350">
              <a:buFont typeface="+mj-lt"/>
              <a:buAutoNum type="arabicPeriod"/>
            </a:pPr>
            <a:r>
              <a:rPr lang="en-US" dirty="0" err="1"/>
              <a:t>Tổng</a:t>
            </a:r>
            <a:r>
              <a:rPr lang="en-US" dirty="0"/>
              <a:t> </a:t>
            </a:r>
            <a:r>
              <a:rPr lang="en-US" dirty="0" err="1"/>
              <a:t>quan</a:t>
            </a:r>
            <a:endParaRPr lang="en-US" dirty="0"/>
          </a:p>
          <a:p>
            <a:pPr marL="514350" indent="-514350">
              <a:buFont typeface="+mj-lt"/>
              <a:buAutoNum type="arabicPeriod"/>
            </a:pPr>
            <a:r>
              <a:rPr lang="en-US" dirty="0"/>
              <a:t>Công </a:t>
            </a:r>
            <a:r>
              <a:rPr lang="en-US" dirty="0" err="1"/>
              <a:t>nghệ</a:t>
            </a:r>
            <a:r>
              <a:rPr lang="en-US" dirty="0"/>
              <a:t> </a:t>
            </a:r>
            <a:r>
              <a:rPr lang="en-US" dirty="0" err="1"/>
              <a:t>sử</a:t>
            </a:r>
            <a:r>
              <a:rPr lang="en-US" dirty="0"/>
              <a:t> </a:t>
            </a:r>
            <a:r>
              <a:rPr lang="en-US" dirty="0" err="1"/>
              <a:t>dụng</a:t>
            </a:r>
            <a:endParaRPr lang="en-US" dirty="0"/>
          </a:p>
          <a:p>
            <a:pPr marL="514350" indent="-514350">
              <a:buFont typeface="+mj-lt"/>
              <a:buAutoNum type="arabicPeriod"/>
            </a:pPr>
            <a:r>
              <a:rPr lang="en-US" dirty="0" err="1"/>
              <a:t>Thực</a:t>
            </a:r>
            <a:r>
              <a:rPr lang="en-US" dirty="0"/>
              <a:t> </a:t>
            </a:r>
            <a:r>
              <a:rPr lang="en-US" dirty="0" err="1"/>
              <a:t>hiện</a:t>
            </a:r>
            <a:r>
              <a:rPr lang="en-US" dirty="0"/>
              <a:t> </a:t>
            </a:r>
            <a:r>
              <a:rPr lang="en-US" dirty="0" err="1"/>
              <a:t>hóa</a:t>
            </a:r>
            <a:r>
              <a:rPr lang="en-US" dirty="0"/>
              <a:t> </a:t>
            </a:r>
            <a:r>
              <a:rPr lang="en-US" dirty="0" err="1"/>
              <a:t>nghiên</a:t>
            </a:r>
            <a:r>
              <a:rPr lang="en-US" dirty="0"/>
              <a:t> </a:t>
            </a:r>
            <a:r>
              <a:rPr lang="en-US" dirty="0" err="1"/>
              <a:t>cứu</a:t>
            </a:r>
            <a:endParaRPr lang="en-US" dirty="0"/>
          </a:p>
          <a:p>
            <a:pPr marL="514350" indent="-514350">
              <a:buFont typeface="+mj-lt"/>
              <a:buAutoNum type="arabicPeriod"/>
            </a:pPr>
            <a:r>
              <a:rPr lang="en-US" dirty="0" err="1"/>
              <a:t>Kết</a:t>
            </a:r>
            <a:r>
              <a:rPr lang="en-US" dirty="0"/>
              <a:t> </a:t>
            </a:r>
            <a:r>
              <a:rPr lang="en-US" dirty="0" err="1"/>
              <a:t>quả</a:t>
            </a:r>
            <a:r>
              <a:rPr lang="en-US" dirty="0"/>
              <a:t> </a:t>
            </a:r>
            <a:r>
              <a:rPr lang="en-US" dirty="0" err="1"/>
              <a:t>đạt</a:t>
            </a:r>
            <a:r>
              <a:rPr lang="en-US" dirty="0"/>
              <a:t> </a:t>
            </a:r>
            <a:r>
              <a:rPr lang="en-US" dirty="0" err="1"/>
              <a:t>được</a:t>
            </a:r>
            <a:r>
              <a:rPr lang="en-US" dirty="0"/>
              <a:t>, </a:t>
            </a:r>
            <a:r>
              <a:rPr lang="en-US" dirty="0" err="1"/>
              <a:t>kết</a:t>
            </a:r>
            <a:r>
              <a:rPr lang="en-US" dirty="0"/>
              <a:t> </a:t>
            </a:r>
            <a:r>
              <a:rPr lang="en-US" dirty="0" err="1"/>
              <a:t>luận</a:t>
            </a:r>
            <a:r>
              <a:rPr lang="en-US" dirty="0"/>
              <a:t> </a:t>
            </a:r>
            <a:r>
              <a:rPr lang="en-US" dirty="0" err="1"/>
              <a:t>và</a:t>
            </a:r>
            <a:r>
              <a:rPr lang="en-US" dirty="0"/>
              <a:t> </a:t>
            </a:r>
            <a:r>
              <a:rPr lang="en-US" dirty="0" err="1"/>
              <a:t>hướng</a:t>
            </a:r>
            <a:r>
              <a:rPr lang="en-US" dirty="0"/>
              <a:t> </a:t>
            </a:r>
            <a:r>
              <a:rPr lang="en-US" dirty="0" err="1"/>
              <a:t>phát</a:t>
            </a:r>
            <a:r>
              <a:rPr lang="en-US" dirty="0"/>
              <a:t> </a:t>
            </a:r>
            <a:r>
              <a:rPr lang="en-US" dirty="0" err="1"/>
              <a:t>triển</a:t>
            </a:r>
            <a:endParaRPr lang="en-US" dirty="0"/>
          </a:p>
        </p:txBody>
      </p:sp>
    </p:spTree>
    <p:extLst>
      <p:ext uri="{BB962C8B-B14F-4D97-AF65-F5344CB8AC3E}">
        <p14:creationId xmlns:p14="http://schemas.microsoft.com/office/powerpoint/2010/main" val="901045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9302A-D7F7-9776-939A-216252C7DAF2}"/>
              </a:ext>
            </a:extLst>
          </p:cNvPr>
          <p:cNvSpPr>
            <a:spLocks noGrp="1"/>
          </p:cNvSpPr>
          <p:nvPr>
            <p:ph type="title"/>
          </p:nvPr>
        </p:nvSpPr>
        <p:spPr/>
        <p:txBody>
          <a:bodyPr/>
          <a:lstStyle/>
          <a:p>
            <a:r>
              <a:rPr lang="en-US" b="1" dirty="0"/>
              <a:t>1. </a:t>
            </a:r>
            <a:r>
              <a:rPr lang="en-US" b="1" dirty="0" err="1"/>
              <a:t>Tổng</a:t>
            </a:r>
            <a:r>
              <a:rPr lang="en-US" b="1" dirty="0"/>
              <a:t> </a:t>
            </a:r>
            <a:r>
              <a:rPr lang="en-US" b="1" dirty="0" err="1"/>
              <a:t>quan</a:t>
            </a:r>
            <a:r>
              <a:rPr lang="en-US" b="1" dirty="0"/>
              <a:t>:</a:t>
            </a:r>
            <a:endParaRPr lang="vi-VN" b="1" dirty="0"/>
          </a:p>
        </p:txBody>
      </p:sp>
      <p:sp>
        <p:nvSpPr>
          <p:cNvPr id="3" name="Content Placeholder 2">
            <a:extLst>
              <a:ext uri="{FF2B5EF4-FFF2-40B4-BE49-F238E27FC236}">
                <a16:creationId xmlns:a16="http://schemas.microsoft.com/office/drawing/2014/main" id="{CD535C12-80F0-2BF5-54FD-09642B8F1B9F}"/>
              </a:ext>
            </a:extLst>
          </p:cNvPr>
          <p:cNvSpPr>
            <a:spLocks noGrp="1"/>
          </p:cNvSpPr>
          <p:nvPr>
            <p:ph idx="1"/>
          </p:nvPr>
        </p:nvSpPr>
        <p:spPr/>
        <p:txBody>
          <a:bodyPr/>
          <a:lstStyle/>
          <a:p>
            <a:pPr marL="0" indent="0">
              <a:buNone/>
            </a:pPr>
            <a:r>
              <a:rPr lang="en-US" sz="2400" b="1" dirty="0" err="1">
                <a:latin typeface="Calibri Light" panose="020F0302020204030204" pitchFamily="34" charset="0"/>
                <a:cs typeface="Calibri Light" panose="020F0302020204030204" pitchFamily="34" charset="0"/>
              </a:rPr>
              <a:t>Đặt</a:t>
            </a:r>
            <a:r>
              <a:rPr lang="en-US" sz="2400" b="1" dirty="0">
                <a:latin typeface="Calibri Light" panose="020F0302020204030204" pitchFamily="34" charset="0"/>
                <a:cs typeface="Calibri Light" panose="020F0302020204030204" pitchFamily="34" charset="0"/>
              </a:rPr>
              <a:t> </a:t>
            </a:r>
            <a:r>
              <a:rPr lang="en-US" sz="2400" b="1" dirty="0" err="1">
                <a:latin typeface="Calibri Light" panose="020F0302020204030204" pitchFamily="34" charset="0"/>
                <a:cs typeface="Calibri Light" panose="020F0302020204030204" pitchFamily="34" charset="0"/>
              </a:rPr>
              <a:t>vấn</a:t>
            </a:r>
            <a:r>
              <a:rPr lang="en-US" sz="2400" b="1" dirty="0">
                <a:latin typeface="Calibri Light" panose="020F0302020204030204" pitchFamily="34" charset="0"/>
                <a:cs typeface="Calibri Light" panose="020F0302020204030204" pitchFamily="34" charset="0"/>
              </a:rPr>
              <a:t> </a:t>
            </a:r>
            <a:r>
              <a:rPr lang="en-US" sz="2400" b="1" dirty="0" err="1">
                <a:latin typeface="Calibri Light" panose="020F0302020204030204" pitchFamily="34" charset="0"/>
                <a:cs typeface="Calibri Light" panose="020F0302020204030204" pitchFamily="34" charset="0"/>
              </a:rPr>
              <a:t>đề</a:t>
            </a:r>
            <a:r>
              <a:rPr lang="en-US" sz="2400" b="1" dirty="0">
                <a:latin typeface="Calibri Light" panose="020F0302020204030204" pitchFamily="34" charset="0"/>
                <a:cs typeface="Calibri Light" panose="020F0302020204030204" pitchFamily="34" charset="0"/>
              </a:rPr>
              <a:t>:</a:t>
            </a:r>
          </a:p>
          <a:p>
            <a:r>
              <a:rPr lang="vi-VN" sz="2400" b="1" dirty="0">
                <a:latin typeface="Calibri Light" panose="020F0302020204030204" pitchFamily="34" charset="0"/>
                <a:cs typeface="Calibri Light" panose="020F0302020204030204" pitchFamily="34" charset="0"/>
              </a:rPr>
              <a:t>Thực trạng:</a:t>
            </a:r>
            <a:r>
              <a:rPr lang="vi-VN" sz="2400" dirty="0">
                <a:latin typeface="Calibri Light" panose="020F0302020204030204" pitchFamily="34" charset="0"/>
                <a:cs typeface="Calibri Light" panose="020F0302020204030204" pitchFamily="34" charset="0"/>
              </a:rPr>
              <a:t> Thương mại điện tử phát triển mạnh nhưng mặt hàng kính mắt trực tuyến vẫn gặp rào cản về: không thể thử sản phẩm, khó quản lý thông số kính thuốc, thanh toán, hoàn/hủy đơn và thiếu tương tác thời gian thực.</a:t>
            </a:r>
            <a:endParaRPr lang="en-US" sz="2400" dirty="0">
              <a:latin typeface="Calibri Light" panose="020F0302020204030204" pitchFamily="34" charset="0"/>
              <a:cs typeface="Calibri Light" panose="020F0302020204030204" pitchFamily="34" charset="0"/>
            </a:endParaRPr>
          </a:p>
          <a:p>
            <a:r>
              <a:rPr lang="vi-VN" sz="2400" b="1" dirty="0">
                <a:latin typeface="Calibri Light" panose="020F0302020204030204" pitchFamily="34" charset="0"/>
                <a:cs typeface="Calibri Light" panose="020F0302020204030204" pitchFamily="34" charset="0"/>
              </a:rPr>
              <a:t>Giải pháp:</a:t>
            </a:r>
            <a:r>
              <a:rPr lang="vi-VN" sz="2400" dirty="0">
                <a:latin typeface="Calibri Light" panose="020F0302020204030204" pitchFamily="34" charset="0"/>
                <a:cs typeface="Calibri Light" panose="020F0302020204030204" pitchFamily="34" charset="0"/>
              </a:rPr>
              <a:t> Xây dựng website bán kính tích hợp </a:t>
            </a:r>
            <a:r>
              <a:rPr lang="vi-VN" sz="2400" b="1" dirty="0">
                <a:latin typeface="Calibri Light" panose="020F0302020204030204" pitchFamily="34" charset="0"/>
                <a:cs typeface="Calibri Light" panose="020F0302020204030204" pitchFamily="34" charset="0"/>
              </a:rPr>
              <a:t>phòng thử kính thực tế ảo</a:t>
            </a:r>
            <a:r>
              <a:rPr lang="vi-VN" sz="2400" dirty="0">
                <a:latin typeface="Calibri Light" panose="020F0302020204030204" pitchFamily="34" charset="0"/>
                <a:cs typeface="Calibri Light" panose="020F0302020204030204" pitchFamily="34" charset="0"/>
              </a:rPr>
              <a:t>.</a:t>
            </a:r>
            <a:endParaRPr lang="en-US" sz="2400" dirty="0">
              <a:latin typeface="Calibri Light" panose="020F0302020204030204" pitchFamily="34" charset="0"/>
              <a:cs typeface="Calibri Light" panose="020F0302020204030204" pitchFamily="34" charset="0"/>
            </a:endParaRPr>
          </a:p>
          <a:p>
            <a:r>
              <a:rPr lang="vi-VN" sz="2400" b="1" dirty="0">
                <a:latin typeface="Calibri Light" panose="020F0302020204030204" pitchFamily="34" charset="0"/>
                <a:cs typeface="Calibri Light" panose="020F0302020204030204" pitchFamily="34" charset="0"/>
              </a:rPr>
              <a:t>Giá trị mang lại:</a:t>
            </a:r>
            <a:r>
              <a:rPr lang="vi-VN" sz="2400" dirty="0">
                <a:latin typeface="Calibri Light" panose="020F0302020204030204" pitchFamily="34" charset="0"/>
                <a:cs typeface="Calibri Light" panose="020F0302020204030204" pitchFamily="34" charset="0"/>
              </a:rPr>
              <a:t> Tối ưu hóa trải nghiệm người dùng (biết kính có hợp với mặt không), giảm tỷ lệ hoàn/hủy đơn và là cơ hội để vận dụng toàn diện kiến thức Web Fullstack.</a:t>
            </a:r>
            <a:endParaRPr lang="en-US" sz="2400" dirty="0">
              <a:latin typeface="Calibri Light" panose="020F0302020204030204" pitchFamily="34" charset="0"/>
              <a:cs typeface="Calibri Light" panose="020F0302020204030204" pitchFamily="34" charset="0"/>
            </a:endParaRP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vi-VN" dirty="0"/>
          </a:p>
        </p:txBody>
      </p:sp>
    </p:spTree>
    <p:extLst>
      <p:ext uri="{BB962C8B-B14F-4D97-AF65-F5344CB8AC3E}">
        <p14:creationId xmlns:p14="http://schemas.microsoft.com/office/powerpoint/2010/main" val="1510993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FE8D4-F883-9D1A-7739-BDEC2D3E91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1B6FE9-1E5D-AFC6-9506-660C295E4A1B}"/>
              </a:ext>
            </a:extLst>
          </p:cNvPr>
          <p:cNvSpPr>
            <a:spLocks noGrp="1"/>
          </p:cNvSpPr>
          <p:nvPr>
            <p:ph type="title"/>
          </p:nvPr>
        </p:nvSpPr>
        <p:spPr/>
        <p:txBody>
          <a:bodyPr/>
          <a:lstStyle/>
          <a:p>
            <a:r>
              <a:rPr lang="en-US" b="1" dirty="0"/>
              <a:t>1. </a:t>
            </a:r>
            <a:r>
              <a:rPr lang="en-US" b="1" dirty="0" err="1"/>
              <a:t>Tổng</a:t>
            </a:r>
            <a:r>
              <a:rPr lang="en-US" b="1" dirty="0"/>
              <a:t> </a:t>
            </a:r>
            <a:r>
              <a:rPr lang="en-US" b="1" dirty="0" err="1"/>
              <a:t>quan</a:t>
            </a:r>
            <a:r>
              <a:rPr lang="en-US" b="1" dirty="0"/>
              <a:t>:</a:t>
            </a:r>
            <a:endParaRPr lang="vi-VN" b="1" dirty="0"/>
          </a:p>
        </p:txBody>
      </p:sp>
      <p:sp>
        <p:nvSpPr>
          <p:cNvPr id="3" name="Content Placeholder 2">
            <a:extLst>
              <a:ext uri="{FF2B5EF4-FFF2-40B4-BE49-F238E27FC236}">
                <a16:creationId xmlns:a16="http://schemas.microsoft.com/office/drawing/2014/main" id="{E53DCBCE-C987-C72D-8480-3C63D802D716}"/>
              </a:ext>
            </a:extLst>
          </p:cNvPr>
          <p:cNvSpPr>
            <a:spLocks noGrp="1"/>
          </p:cNvSpPr>
          <p:nvPr>
            <p:ph idx="1"/>
          </p:nvPr>
        </p:nvSpPr>
        <p:spPr/>
        <p:txBody>
          <a:bodyPr>
            <a:normAutofit/>
          </a:bodyPr>
          <a:lstStyle/>
          <a:p>
            <a:pPr marL="0" indent="0">
              <a:buNone/>
            </a:pPr>
            <a:r>
              <a:rPr lang="en-US" sz="2400" b="1" dirty="0" err="1">
                <a:latin typeface="Calibri Light" panose="020F0302020204030204" pitchFamily="34" charset="0"/>
                <a:cs typeface="Calibri Light" panose="020F0302020204030204" pitchFamily="34" charset="0"/>
              </a:rPr>
              <a:t>Mục</a:t>
            </a:r>
            <a:r>
              <a:rPr lang="en-US" sz="2400" b="1" dirty="0">
                <a:latin typeface="Calibri Light" panose="020F0302020204030204" pitchFamily="34" charset="0"/>
                <a:cs typeface="Calibri Light" panose="020F0302020204030204" pitchFamily="34" charset="0"/>
              </a:rPr>
              <a:t> </a:t>
            </a:r>
            <a:r>
              <a:rPr lang="en-US" sz="2400" b="1" dirty="0" err="1">
                <a:latin typeface="Calibri Light" panose="020F0302020204030204" pitchFamily="34" charset="0"/>
                <a:cs typeface="Calibri Light" panose="020F0302020204030204" pitchFamily="34" charset="0"/>
              </a:rPr>
              <a:t>tiêu</a:t>
            </a:r>
            <a:r>
              <a:rPr lang="en-US" sz="2400" b="1" dirty="0">
                <a:latin typeface="Calibri Light" panose="020F0302020204030204" pitchFamily="34" charset="0"/>
                <a:cs typeface="Calibri Light" panose="020F0302020204030204" pitchFamily="34" charset="0"/>
              </a:rPr>
              <a:t> </a:t>
            </a:r>
            <a:r>
              <a:rPr lang="en-US" sz="2400" b="1" dirty="0" err="1">
                <a:latin typeface="Calibri Light" panose="020F0302020204030204" pitchFamily="34" charset="0"/>
                <a:cs typeface="Calibri Light" panose="020F0302020204030204" pitchFamily="34" charset="0"/>
              </a:rPr>
              <a:t>hệ</a:t>
            </a:r>
            <a:r>
              <a:rPr lang="en-US" sz="2400" b="1" dirty="0">
                <a:latin typeface="Calibri Light" panose="020F0302020204030204" pitchFamily="34" charset="0"/>
                <a:cs typeface="Calibri Light" panose="020F0302020204030204" pitchFamily="34" charset="0"/>
              </a:rPr>
              <a:t> </a:t>
            </a:r>
            <a:r>
              <a:rPr lang="en-US" sz="2400" b="1" dirty="0" err="1">
                <a:latin typeface="Calibri Light" panose="020F0302020204030204" pitchFamily="34" charset="0"/>
                <a:cs typeface="Calibri Light" panose="020F0302020204030204" pitchFamily="34" charset="0"/>
              </a:rPr>
              <a:t>thống</a:t>
            </a:r>
            <a:r>
              <a:rPr lang="en-US" sz="2400" b="1" dirty="0">
                <a:latin typeface="Calibri Light" panose="020F0302020204030204" pitchFamily="34" charset="0"/>
                <a:cs typeface="Calibri Light" panose="020F0302020204030204" pitchFamily="34" charset="0"/>
              </a:rPr>
              <a:t>: </a:t>
            </a:r>
            <a:r>
              <a:rPr lang="en-US" sz="2400" b="1" dirty="0" err="1">
                <a:latin typeface="Calibri Light" panose="020F0302020204030204" pitchFamily="34" charset="0"/>
                <a:cs typeface="Calibri Light" panose="020F0302020204030204" pitchFamily="34" charset="0"/>
              </a:rPr>
              <a:t>Hệ</a:t>
            </a:r>
            <a:r>
              <a:rPr lang="en-US" sz="2400" b="1" dirty="0">
                <a:latin typeface="Calibri Light" panose="020F0302020204030204" pitchFamily="34" charset="0"/>
                <a:cs typeface="Calibri Light" panose="020F0302020204030204" pitchFamily="34" charset="0"/>
              </a:rPr>
              <a:t> </a:t>
            </a:r>
            <a:r>
              <a:rPr lang="en-US" sz="2400" b="1" dirty="0" err="1">
                <a:latin typeface="Calibri Light" panose="020F0302020204030204" pitchFamily="34" charset="0"/>
                <a:cs typeface="Calibri Light" panose="020F0302020204030204" pitchFamily="34" charset="0"/>
              </a:rPr>
              <a:t>thống</a:t>
            </a:r>
            <a:r>
              <a:rPr lang="en-US" sz="2400" b="1" dirty="0">
                <a:latin typeface="Calibri Light" panose="020F0302020204030204" pitchFamily="34" charset="0"/>
                <a:cs typeface="Calibri Light" panose="020F0302020204030204" pitchFamily="34" charset="0"/>
              </a:rPr>
              <a:t> </a:t>
            </a:r>
            <a:r>
              <a:rPr lang="en-US" sz="2400" b="1" dirty="0" err="1">
                <a:latin typeface="Calibri Light" panose="020F0302020204030204" pitchFamily="34" charset="0"/>
                <a:cs typeface="Calibri Light" panose="020F0302020204030204" pitchFamily="34" charset="0"/>
              </a:rPr>
              <a:t>được</a:t>
            </a:r>
            <a:r>
              <a:rPr lang="en-US" sz="2400" b="1" dirty="0">
                <a:latin typeface="Calibri Light" panose="020F0302020204030204" pitchFamily="34" charset="0"/>
                <a:cs typeface="Calibri Light" panose="020F0302020204030204" pitchFamily="34" charset="0"/>
              </a:rPr>
              <a:t> </a:t>
            </a:r>
            <a:r>
              <a:rPr lang="en-US" sz="2400" b="1" dirty="0" err="1">
                <a:latin typeface="Calibri Light" panose="020F0302020204030204" pitchFamily="34" charset="0"/>
                <a:cs typeface="Calibri Light" panose="020F0302020204030204" pitchFamily="34" charset="0"/>
              </a:rPr>
              <a:t>thiết</a:t>
            </a:r>
            <a:r>
              <a:rPr lang="en-US" sz="2400" b="1" dirty="0">
                <a:latin typeface="Calibri Light" panose="020F0302020204030204" pitchFamily="34" charset="0"/>
                <a:cs typeface="Calibri Light" panose="020F0302020204030204" pitchFamily="34" charset="0"/>
              </a:rPr>
              <a:t> </a:t>
            </a:r>
            <a:r>
              <a:rPr lang="en-US" sz="2400" b="1" dirty="0" err="1">
                <a:latin typeface="Calibri Light" panose="020F0302020204030204" pitchFamily="34" charset="0"/>
                <a:cs typeface="Calibri Light" panose="020F0302020204030204" pitchFamily="34" charset="0"/>
              </a:rPr>
              <a:t>kế</a:t>
            </a:r>
            <a:r>
              <a:rPr lang="en-US" sz="2400" b="1" dirty="0">
                <a:latin typeface="Calibri Light" panose="020F0302020204030204" pitchFamily="34" charset="0"/>
                <a:cs typeface="Calibri Light" panose="020F0302020204030204" pitchFamily="34" charset="0"/>
              </a:rPr>
              <a:t> </a:t>
            </a:r>
            <a:r>
              <a:rPr lang="en-US" sz="2400" b="1" dirty="0" err="1">
                <a:latin typeface="Calibri Light" panose="020F0302020204030204" pitchFamily="34" charset="0"/>
                <a:cs typeface="Calibri Light" panose="020F0302020204030204" pitchFamily="34" charset="0"/>
              </a:rPr>
              <a:t>chuyên</a:t>
            </a:r>
            <a:r>
              <a:rPr lang="en-US" sz="2400" b="1" dirty="0">
                <a:latin typeface="Calibri Light" panose="020F0302020204030204" pitchFamily="34" charset="0"/>
                <a:cs typeface="Calibri Light" panose="020F0302020204030204" pitchFamily="34" charset="0"/>
              </a:rPr>
              <a:t> </a:t>
            </a:r>
            <a:r>
              <a:rPr lang="en-US" sz="2400" b="1" dirty="0" err="1">
                <a:latin typeface="Calibri Light" panose="020F0302020204030204" pitchFamily="34" charset="0"/>
                <a:cs typeface="Calibri Light" panose="020F0302020204030204" pitchFamily="34" charset="0"/>
              </a:rPr>
              <a:t>biệt</a:t>
            </a:r>
            <a:r>
              <a:rPr lang="en-US" sz="2400" b="1" dirty="0">
                <a:latin typeface="Calibri Light" panose="020F0302020204030204" pitchFamily="34" charset="0"/>
                <a:cs typeface="Calibri Light" panose="020F0302020204030204" pitchFamily="34" charset="0"/>
              </a:rPr>
              <a:t> </a:t>
            </a:r>
            <a:r>
              <a:rPr lang="en-US" sz="2400" b="1" dirty="0" err="1">
                <a:latin typeface="Calibri Light" panose="020F0302020204030204" pitchFamily="34" charset="0"/>
                <a:cs typeface="Calibri Light" panose="020F0302020204030204" pitchFamily="34" charset="0"/>
              </a:rPr>
              <a:t>cho</a:t>
            </a:r>
            <a:r>
              <a:rPr lang="en-US" sz="2400" b="1" dirty="0">
                <a:latin typeface="Calibri Light" panose="020F0302020204030204" pitchFamily="34" charset="0"/>
                <a:cs typeface="Calibri Light" panose="020F0302020204030204" pitchFamily="34" charset="0"/>
              </a:rPr>
              <a:t> 3 </a:t>
            </a:r>
            <a:r>
              <a:rPr lang="en-US" sz="2400" b="1" dirty="0" err="1">
                <a:latin typeface="Calibri Light" panose="020F0302020204030204" pitchFamily="34" charset="0"/>
                <a:cs typeface="Calibri Light" panose="020F0302020204030204" pitchFamily="34" charset="0"/>
              </a:rPr>
              <a:t>nhóm</a:t>
            </a:r>
            <a:r>
              <a:rPr lang="en-US" sz="2400" b="1" dirty="0">
                <a:latin typeface="Calibri Light" panose="020F0302020204030204" pitchFamily="34" charset="0"/>
                <a:cs typeface="Calibri Light" panose="020F0302020204030204" pitchFamily="34" charset="0"/>
              </a:rPr>
              <a:t> </a:t>
            </a:r>
            <a:r>
              <a:rPr lang="en-US" sz="2400" b="1" dirty="0" err="1">
                <a:latin typeface="Calibri Light" panose="020F0302020204030204" pitchFamily="34" charset="0"/>
                <a:cs typeface="Calibri Light" panose="020F0302020204030204" pitchFamily="34" charset="0"/>
              </a:rPr>
              <a:t>đối</a:t>
            </a:r>
            <a:r>
              <a:rPr lang="en-US" sz="2400" b="1" dirty="0">
                <a:latin typeface="Calibri Light" panose="020F0302020204030204" pitchFamily="34" charset="0"/>
                <a:cs typeface="Calibri Light" panose="020F0302020204030204" pitchFamily="34" charset="0"/>
              </a:rPr>
              <a:t> </a:t>
            </a:r>
            <a:r>
              <a:rPr lang="en-US" sz="2400" b="1" dirty="0" err="1">
                <a:latin typeface="Calibri Light" panose="020F0302020204030204" pitchFamily="34" charset="0"/>
                <a:cs typeface="Calibri Light" panose="020F0302020204030204" pitchFamily="34" charset="0"/>
              </a:rPr>
              <a:t>tượng</a:t>
            </a:r>
            <a:r>
              <a:rPr lang="en-US" sz="2400" b="1" dirty="0">
                <a:latin typeface="Calibri Light" panose="020F0302020204030204" pitchFamily="34" charset="0"/>
                <a:cs typeface="Calibri Light" panose="020F0302020204030204" pitchFamily="34" charset="0"/>
              </a:rPr>
              <a:t>:</a:t>
            </a:r>
          </a:p>
          <a:p>
            <a:pPr marL="0" indent="0">
              <a:buNone/>
            </a:pPr>
            <a:r>
              <a:rPr lang="vi-VN" sz="2400" b="1" dirty="0">
                <a:latin typeface="Calibri Light" panose="020F0302020204030204" pitchFamily="34" charset="0"/>
                <a:cs typeface="Calibri Light" panose="020F0302020204030204" pitchFamily="34" charset="0"/>
              </a:rPr>
              <a:t>Khách hàng (Customer):</a:t>
            </a:r>
            <a:r>
              <a:rPr lang="vi-VN" sz="2400" dirty="0">
                <a:latin typeface="Calibri Light" panose="020F0302020204030204" pitchFamily="34" charset="0"/>
                <a:cs typeface="Calibri Light" panose="020F0302020204030204" pitchFamily="34" charset="0"/>
              </a:rPr>
              <a:t> * </a:t>
            </a:r>
            <a:r>
              <a:rPr lang="vi-VN" sz="2400" i="1" dirty="0">
                <a:latin typeface="Calibri Light" panose="020F0302020204030204" pitchFamily="34" charset="0"/>
                <a:cs typeface="Calibri Light" panose="020F0302020204030204" pitchFamily="34" charset="0"/>
              </a:rPr>
              <a:t>Điểm nhấn:</a:t>
            </a:r>
            <a:r>
              <a:rPr lang="vi-VN" sz="2400" dirty="0">
                <a:latin typeface="Calibri Light" panose="020F0302020204030204" pitchFamily="34" charset="0"/>
                <a:cs typeface="Calibri Light" panose="020F0302020204030204" pitchFamily="34" charset="0"/>
              </a:rPr>
              <a:t> </a:t>
            </a:r>
            <a:r>
              <a:rPr lang="vi-VN" sz="2400" b="1" dirty="0">
                <a:latin typeface="Calibri Light" panose="020F0302020204030204" pitchFamily="34" charset="0"/>
                <a:cs typeface="Calibri Light" panose="020F0302020204030204" pitchFamily="34" charset="0"/>
              </a:rPr>
              <a:t>Phòng thử kính ảo</a:t>
            </a:r>
            <a:r>
              <a:rPr lang="vi-VN" sz="2400" dirty="0">
                <a:latin typeface="Calibri Light" panose="020F0302020204030204" pitchFamily="34" charset="0"/>
                <a:cs typeface="Calibri Light" panose="020F0302020204030204" pitchFamily="34" charset="0"/>
              </a:rPr>
              <a:t> cho phép đổi kính liên tục, quay video/chụp ảnh ở nhiều góc độ và lưu trực tiếp về máy, Tìm kiếm sản phẩm, quản lý hồ sơ độ cận, ví cá nhân, giỏ hàng, lịch sử đơn hàng, live chat và đánh giá sản phẩm.</a:t>
            </a:r>
          </a:p>
          <a:p>
            <a:pPr marL="0" indent="0">
              <a:buNone/>
            </a:pPr>
            <a:r>
              <a:rPr lang="vi-VN" sz="2400" b="1" dirty="0">
                <a:latin typeface="Calibri Light" panose="020F0302020204030204" pitchFamily="34" charset="0"/>
                <a:cs typeface="Calibri Light" panose="020F0302020204030204" pitchFamily="34" charset="0"/>
              </a:rPr>
              <a:t>Quản trị viên (Admin):</a:t>
            </a:r>
            <a:r>
              <a:rPr lang="vi-VN" sz="2400" dirty="0">
                <a:latin typeface="Calibri Light" panose="020F0302020204030204" pitchFamily="34" charset="0"/>
                <a:cs typeface="Calibri Light" panose="020F0302020204030204" pitchFamily="34" charset="0"/>
              </a:rPr>
              <a:t> Nắm quyền kiểm soát tổng thể bao gồm xem báo cáo thống kê, quản lý danh mục (sản phẩm, loại kính, nhãn hàng...), quản lý khuyến mãi, tài khoản người dùng và xét duyệt yêu cầu rút tiền.</a:t>
            </a:r>
          </a:p>
          <a:p>
            <a:pPr marL="0" indent="0">
              <a:buNone/>
            </a:pPr>
            <a:r>
              <a:rPr lang="vi-VN" sz="2400" b="1" dirty="0">
                <a:latin typeface="Calibri Light" panose="020F0302020204030204" pitchFamily="34" charset="0"/>
                <a:cs typeface="Calibri Light" panose="020F0302020204030204" pitchFamily="34" charset="0"/>
              </a:rPr>
              <a:t>Nhân viên (Staff):</a:t>
            </a:r>
            <a:r>
              <a:rPr lang="vi-VN" sz="2400" dirty="0">
                <a:latin typeface="Calibri Light" panose="020F0302020204030204" pitchFamily="34" charset="0"/>
                <a:cs typeface="Calibri Light" panose="020F0302020204030204" pitchFamily="34" charset="0"/>
              </a:rPr>
              <a:t> Tập trung vào vận hành bán hàng như quản lý đơn hàng, xử lý yêu cầu hủy đơn, theo dõi đánh giá và live chat hỗ trợ khách hàng.</a:t>
            </a:r>
            <a:endParaRPr lang="en-US" sz="2400" b="1" dirty="0">
              <a:latin typeface="Calibri Light" panose="020F0302020204030204" pitchFamily="34" charset="0"/>
              <a:cs typeface="Calibri Light" panose="020F0302020204030204" pitchFamily="34" charset="0"/>
            </a:endParaRP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vi-VN" dirty="0"/>
          </a:p>
        </p:txBody>
      </p:sp>
    </p:spTree>
    <p:extLst>
      <p:ext uri="{BB962C8B-B14F-4D97-AF65-F5344CB8AC3E}">
        <p14:creationId xmlns:p14="http://schemas.microsoft.com/office/powerpoint/2010/main" val="4154046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BFD7A-A4A9-184B-21E9-0741AC4BCAEE}"/>
              </a:ext>
            </a:extLst>
          </p:cNvPr>
          <p:cNvSpPr>
            <a:spLocks noGrp="1"/>
          </p:cNvSpPr>
          <p:nvPr>
            <p:ph type="title"/>
          </p:nvPr>
        </p:nvSpPr>
        <p:spPr/>
        <p:txBody>
          <a:bodyPr/>
          <a:lstStyle/>
          <a:p>
            <a:r>
              <a:rPr lang="en-US" b="1" dirty="0"/>
              <a:t>2. Công </a:t>
            </a:r>
            <a:r>
              <a:rPr lang="en-US" b="1" dirty="0" err="1"/>
              <a:t>nghệ</a:t>
            </a:r>
            <a:r>
              <a:rPr lang="en-US" b="1" dirty="0"/>
              <a:t> </a:t>
            </a:r>
            <a:r>
              <a:rPr lang="en-US" b="1" dirty="0" err="1"/>
              <a:t>sử</a:t>
            </a:r>
            <a:r>
              <a:rPr lang="en-US" b="1" dirty="0"/>
              <a:t> </a:t>
            </a:r>
            <a:r>
              <a:rPr lang="en-US" b="1" dirty="0" err="1"/>
              <a:t>dụng</a:t>
            </a:r>
            <a:r>
              <a:rPr lang="en-US" b="1" dirty="0"/>
              <a:t>:</a:t>
            </a:r>
            <a:endParaRPr lang="vi-VN" b="1" dirty="0">
              <a:latin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559DA980-E040-9DE8-EC2D-E2762BA5B6EB}"/>
              </a:ext>
            </a:extLst>
          </p:cNvPr>
          <p:cNvSpPr>
            <a:spLocks noGrp="1"/>
          </p:cNvSpPr>
          <p:nvPr>
            <p:ph idx="1"/>
          </p:nvPr>
        </p:nvSpPr>
        <p:spPr>
          <a:xfrm>
            <a:off x="838200" y="1690688"/>
            <a:ext cx="10515600" cy="4486275"/>
          </a:xfrm>
        </p:spPr>
        <p:txBody>
          <a:bodyPr>
            <a:noAutofit/>
          </a:bodyPr>
          <a:lstStyle/>
          <a:p>
            <a:pPr marL="0" indent="0">
              <a:buNone/>
            </a:pPr>
            <a:r>
              <a:rPr lang="vi-VN" sz="1800" dirty="0">
                <a:latin typeface="Calibri Light" panose="020F0302020204030204" pitchFamily="34" charset="0"/>
                <a:cs typeface="Calibri Light" panose="020F0302020204030204" pitchFamily="34" charset="0"/>
              </a:rPr>
              <a:t>Dự án áp dụng mô hình Client – Server giao tiếp qua RESTful API, sử dụng các công nghệ hiện đại như:</a:t>
            </a:r>
          </a:p>
          <a:p>
            <a:r>
              <a:rPr lang="vi-VN" sz="1800" dirty="0">
                <a:latin typeface="Calibri Light" panose="020F0302020204030204" pitchFamily="34" charset="0"/>
                <a:cs typeface="Calibri Light" panose="020F0302020204030204" pitchFamily="34" charset="0"/>
              </a:rPr>
              <a:t>Frontend (Giao diện): ReactJS, TailwindCSS.</a:t>
            </a:r>
          </a:p>
          <a:p>
            <a:r>
              <a:rPr lang="vi-VN" sz="1800" dirty="0">
                <a:latin typeface="Calibri Light" panose="020F0302020204030204" pitchFamily="34" charset="0"/>
                <a:cs typeface="Calibri Light" panose="020F0302020204030204" pitchFamily="34" charset="0"/>
              </a:rPr>
              <a:t>Backend &amp; Cấu trúc dữ liệu: Node.js, ExpressJS, MongoDB.</a:t>
            </a:r>
          </a:p>
          <a:p>
            <a:r>
              <a:rPr lang="vi-VN" sz="1800" dirty="0">
                <a:latin typeface="Calibri Light" panose="020F0302020204030204" pitchFamily="34" charset="0"/>
                <a:cs typeface="Calibri Light" panose="020F0302020204030204" pitchFamily="34" charset="0"/>
              </a:rPr>
              <a:t>Công nghệ lõi (AR &amp; Xử lý đa phương tiện): * Three.js (tải/xử lý mô hình 3D), MediaPipe Face Landmarker (trích xuất điểm mốc khuôn mặt realtime), FFmpeg (chuyển mã video WebM sang MP4 cho đa thiết bị).</a:t>
            </a:r>
          </a:p>
          <a:p>
            <a:r>
              <a:rPr lang="vi-VN" sz="1800" dirty="0">
                <a:latin typeface="Calibri Light" panose="020F0302020204030204" pitchFamily="34" charset="0"/>
                <a:cs typeface="Calibri Light" panose="020F0302020204030204" pitchFamily="34" charset="0"/>
              </a:rPr>
              <a:t>Tính năng thời gian thực: Socket.io (đồng bộ chat, thông báo, tồn kho).</a:t>
            </a:r>
          </a:p>
          <a:p>
            <a:r>
              <a:rPr lang="vi-VN" sz="1800" dirty="0">
                <a:latin typeface="Calibri Light" panose="020F0302020204030204" pitchFamily="34" charset="0"/>
                <a:cs typeface="Calibri Light" panose="020F0302020204030204" pitchFamily="34" charset="0"/>
              </a:rPr>
              <a:t>Thanh toán &amp; Lưu trữ: PayOS API (thanh toán QR tự động + webhook), VietQR (sinh QR động/rút tiền), Cloudinary (lưu trữ ảnh), Supebase (lưu trữ mô hình 3D).</a:t>
            </a:r>
          </a:p>
          <a:p>
            <a:r>
              <a:rPr lang="vi-VN" sz="1800" dirty="0">
                <a:latin typeface="Calibri Light" panose="020F0302020204030204" pitchFamily="34" charset="0"/>
                <a:cs typeface="Calibri Light" panose="020F0302020204030204" pitchFamily="34" charset="0"/>
              </a:rPr>
              <a:t>Bảo mật &amp; Kiểm thử: JWT, Bcrypt.js (mã hóa); kiểm thử thủ công và Postman API.</a:t>
            </a:r>
          </a:p>
          <a:p>
            <a:r>
              <a:rPr lang="vi-VN" sz="1800" dirty="0">
                <a:latin typeface="Calibri Light" panose="020F0302020204030204" pitchFamily="34" charset="0"/>
                <a:cs typeface="Calibri Light" panose="020F0302020204030204" pitchFamily="34" charset="0"/>
              </a:rPr>
              <a:t>Face Mesh (Lưới khuôn mặt): Là công cụ nền tảng giúp định vị và phân tích khuôn mặt chuyên sâu. Điểm mạnh của Face Mesh là khả năng trích xuất chính xác 468 điểm mốc 3D cực kỳ chi tiết trên khuôn mặt người thông qua dữ liệu hình ảnh hoặc video.</a:t>
            </a:r>
          </a:p>
          <a:p>
            <a:r>
              <a:rPr lang="vi-VN" sz="1800" dirty="0">
                <a:latin typeface="Calibri Light" panose="020F0302020204030204" pitchFamily="34" charset="0"/>
                <a:cs typeface="Calibri Light" panose="020F0302020204030204" pitchFamily="34" charset="0"/>
              </a:rPr>
              <a:t>Face Landmarker (Đánh dấu khuôn mặt): Là công cụ mở rộng ứng dụng Machine Learning (ML) để nhận diện điểm mốc và phân tích biểu cảm khuôn mặt (hoạt động trên cả ảnh tĩnh và video thời gian thực).</a:t>
            </a:r>
          </a:p>
        </p:txBody>
      </p:sp>
    </p:spTree>
    <p:extLst>
      <p:ext uri="{BB962C8B-B14F-4D97-AF65-F5344CB8AC3E}">
        <p14:creationId xmlns:p14="http://schemas.microsoft.com/office/powerpoint/2010/main" val="39229169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F87A6-97E7-5EE2-D0C1-07934F37B36F}"/>
              </a:ext>
            </a:extLst>
          </p:cNvPr>
          <p:cNvSpPr>
            <a:spLocks noGrp="1"/>
          </p:cNvSpPr>
          <p:nvPr>
            <p:ph type="title"/>
          </p:nvPr>
        </p:nvSpPr>
        <p:spPr/>
        <p:txBody>
          <a:bodyPr/>
          <a:lstStyle/>
          <a:p>
            <a:r>
              <a:rPr lang="en-US" b="1" dirty="0"/>
              <a:t>3. </a:t>
            </a:r>
            <a:r>
              <a:rPr lang="en-US" b="1" dirty="0" err="1"/>
              <a:t>Thực</a:t>
            </a:r>
            <a:r>
              <a:rPr lang="en-US" b="1" dirty="0"/>
              <a:t> </a:t>
            </a:r>
            <a:r>
              <a:rPr lang="en-US" b="1" dirty="0" err="1"/>
              <a:t>hiện</a:t>
            </a:r>
            <a:r>
              <a:rPr lang="en-US" b="1" dirty="0"/>
              <a:t> </a:t>
            </a:r>
            <a:r>
              <a:rPr lang="en-US" b="1" dirty="0" err="1"/>
              <a:t>hóa</a:t>
            </a:r>
            <a:r>
              <a:rPr lang="en-US" b="1" dirty="0"/>
              <a:t> </a:t>
            </a:r>
            <a:r>
              <a:rPr lang="en-US" b="1" dirty="0" err="1"/>
              <a:t>nghiên</a:t>
            </a:r>
            <a:r>
              <a:rPr lang="en-US" b="1" dirty="0"/>
              <a:t> </a:t>
            </a:r>
            <a:r>
              <a:rPr lang="en-US" b="1" dirty="0" err="1"/>
              <a:t>cứu</a:t>
            </a:r>
            <a:endParaRPr lang="vi-VN" b="1" dirty="0"/>
          </a:p>
        </p:txBody>
      </p:sp>
      <p:sp>
        <p:nvSpPr>
          <p:cNvPr id="3" name="Content Placeholder 2">
            <a:extLst>
              <a:ext uri="{FF2B5EF4-FFF2-40B4-BE49-F238E27FC236}">
                <a16:creationId xmlns:a16="http://schemas.microsoft.com/office/drawing/2014/main" id="{B54A185F-99D1-D961-FAB7-E662F9610195}"/>
              </a:ext>
            </a:extLst>
          </p:cNvPr>
          <p:cNvSpPr>
            <a:spLocks noGrp="1"/>
          </p:cNvSpPr>
          <p:nvPr>
            <p:ph idx="1"/>
          </p:nvPr>
        </p:nvSpPr>
        <p:spPr/>
        <p:txBody>
          <a:bodyPr>
            <a:normAutofit fontScale="85000" lnSpcReduction="20000"/>
          </a:bodyPr>
          <a:lstStyle/>
          <a:p>
            <a:pPr marL="0" indent="0">
              <a:buNone/>
            </a:pPr>
            <a:r>
              <a:rPr lang="vi-VN" b="1" dirty="0">
                <a:latin typeface="Calibri Light" panose="020F0302020204030204" pitchFamily="34" charset="0"/>
                <a:cs typeface="Calibri Light" panose="020F0302020204030204" pitchFamily="34" charset="0"/>
              </a:rPr>
              <a:t>Yêu cầu chức năng</a:t>
            </a:r>
            <a:r>
              <a:rPr lang="en-US" b="1" dirty="0">
                <a:latin typeface="Calibri Light" panose="020F0302020204030204" pitchFamily="34" charset="0"/>
                <a:cs typeface="Calibri Light" panose="020F0302020204030204" pitchFamily="34" charset="0"/>
              </a:rPr>
              <a:t>: </a:t>
            </a:r>
            <a:r>
              <a:rPr lang="vi-VN" dirty="0">
                <a:latin typeface="Calibri Light" panose="020F0302020204030204" pitchFamily="34" charset="0"/>
                <a:cs typeface="Calibri Light" panose="020F0302020204030204" pitchFamily="34" charset="0"/>
              </a:rPr>
              <a:t>Hệ thống được thiết kế chuyên biệt và phân quyền rõ ràng cho 3 nhóm người dùng:</a:t>
            </a:r>
          </a:p>
          <a:p>
            <a:r>
              <a:rPr lang="vi-VN" dirty="0">
                <a:latin typeface="Calibri Light" panose="020F0302020204030204" pitchFamily="34" charset="0"/>
                <a:cs typeface="Calibri Light" panose="020F0302020204030204" pitchFamily="34" charset="0"/>
              </a:rPr>
              <a:t>Quản trị viên (Admin) - Hệ thống &amp; Sản phẩm: Nắm quyền kiểm soát toàn diện bao gồm xem báo cáo thống kê chi tiết, quản lý sản phẩm (thông tin kính, mô hình 3D), danh mục, nhãn hàng, nhập hàng và chiến dịch khuyến mãi, Quản lý tài khoản (nhân viên/khách hàng), thiết lập banner, kiểm duyệt đánh giá và xử lý các yêu cầu rút tiền/khiếu nại từ ví điện tử của khách qua VietQR.</a:t>
            </a:r>
          </a:p>
          <a:p>
            <a:r>
              <a:rPr lang="vi-VN" dirty="0">
                <a:latin typeface="Calibri Light" panose="020F0302020204030204" pitchFamily="34" charset="0"/>
                <a:cs typeface="Calibri Light" panose="020F0302020204030204" pitchFamily="34" charset="0"/>
              </a:rPr>
              <a:t>Nhân viên (Staff): Đóng vai trò vận hành trực tiếp, bao gồm tiếp nhận/cập nhật trạng thái đơn hàng, xét duyệt yêu cầu hủy đơn và hỗ trợ khách hàng qua hệ thống Live Chat.</a:t>
            </a:r>
          </a:p>
          <a:p>
            <a:r>
              <a:rPr lang="vi-VN" dirty="0">
                <a:latin typeface="Calibri Light" panose="020F0302020204030204" pitchFamily="34" charset="0"/>
                <a:cs typeface="Calibri Light" panose="020F0302020204030204" pitchFamily="34" charset="0"/>
              </a:rPr>
              <a:t>Khách hàng (Customer) : Tìm kiếm sản phẩm, kính ảo AR (cho phép chụp ảnh/quay video chia sẻ mạng xã hội), nhắn tin trực tiếp với nhân viên và viết đánh giá sau khi mua, Tạo và lưu trữ hồ sơ độ cận (tự động điền khi đặt hàng), quản lý ví tiền cá nhân (yêu cầu rút tiền, nhận hoàn tiền), theo dõi đơn hàng và nhận thông báo thời gian thực.</a:t>
            </a:r>
            <a:endParaRPr lang="en-US" dirty="0">
              <a:latin typeface="Calibri Light" panose="020F0302020204030204" pitchFamily="34" charset="0"/>
              <a:cs typeface="Calibri Light" panose="020F0302020204030204" pitchFamily="34" charset="0"/>
            </a:endParaRPr>
          </a:p>
          <a:p>
            <a:pPr marL="0" indent="0">
              <a:buNone/>
            </a:pPr>
            <a:endParaRPr lang="vi-VN" dirty="0"/>
          </a:p>
        </p:txBody>
      </p:sp>
    </p:spTree>
    <p:extLst>
      <p:ext uri="{BB962C8B-B14F-4D97-AF65-F5344CB8AC3E}">
        <p14:creationId xmlns:p14="http://schemas.microsoft.com/office/powerpoint/2010/main" val="2912658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7745B-A75F-F5E5-1D11-0B127FC43C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581892-FFAB-65F7-9CC4-D71561BA68EF}"/>
              </a:ext>
            </a:extLst>
          </p:cNvPr>
          <p:cNvSpPr>
            <a:spLocks noGrp="1"/>
          </p:cNvSpPr>
          <p:nvPr>
            <p:ph type="title"/>
          </p:nvPr>
        </p:nvSpPr>
        <p:spPr/>
        <p:txBody>
          <a:bodyPr/>
          <a:lstStyle/>
          <a:p>
            <a:r>
              <a:rPr lang="en-US" b="1" dirty="0"/>
              <a:t>3. </a:t>
            </a:r>
            <a:r>
              <a:rPr lang="en-US" b="1" dirty="0" err="1"/>
              <a:t>Thực</a:t>
            </a:r>
            <a:r>
              <a:rPr lang="en-US" b="1" dirty="0"/>
              <a:t> </a:t>
            </a:r>
            <a:r>
              <a:rPr lang="en-US" b="1" dirty="0" err="1"/>
              <a:t>hiện</a:t>
            </a:r>
            <a:r>
              <a:rPr lang="en-US" b="1" dirty="0"/>
              <a:t> </a:t>
            </a:r>
            <a:r>
              <a:rPr lang="en-US" b="1" dirty="0" err="1"/>
              <a:t>hóa</a:t>
            </a:r>
            <a:r>
              <a:rPr lang="en-US" b="1" dirty="0"/>
              <a:t> </a:t>
            </a:r>
            <a:r>
              <a:rPr lang="en-US" b="1" dirty="0" err="1"/>
              <a:t>nghiên</a:t>
            </a:r>
            <a:r>
              <a:rPr lang="en-US" b="1" dirty="0"/>
              <a:t> </a:t>
            </a:r>
            <a:r>
              <a:rPr lang="en-US" b="1" dirty="0" err="1"/>
              <a:t>cứu</a:t>
            </a:r>
            <a:r>
              <a:rPr lang="en-US" b="1" dirty="0"/>
              <a:t>:</a:t>
            </a:r>
            <a:endParaRPr lang="vi-VN" b="1" dirty="0"/>
          </a:p>
        </p:txBody>
      </p:sp>
      <p:sp>
        <p:nvSpPr>
          <p:cNvPr id="3" name="Content Placeholder 2">
            <a:extLst>
              <a:ext uri="{FF2B5EF4-FFF2-40B4-BE49-F238E27FC236}">
                <a16:creationId xmlns:a16="http://schemas.microsoft.com/office/drawing/2014/main" id="{81B47C98-B1CF-9069-F55C-EC787B3B7571}"/>
              </a:ext>
            </a:extLst>
          </p:cNvPr>
          <p:cNvSpPr>
            <a:spLocks noGrp="1"/>
          </p:cNvSpPr>
          <p:nvPr>
            <p:ph idx="1"/>
          </p:nvPr>
        </p:nvSpPr>
        <p:spPr/>
        <p:txBody>
          <a:bodyPr>
            <a:normAutofit fontScale="92500" lnSpcReduction="10000"/>
          </a:bodyPr>
          <a:lstStyle/>
          <a:p>
            <a:pPr marL="0" indent="0">
              <a:buNone/>
            </a:pPr>
            <a:r>
              <a:rPr lang="vi-VN" b="1" dirty="0">
                <a:latin typeface="Calibri Light" panose="020F0302020204030204" pitchFamily="34" charset="0"/>
                <a:cs typeface="Calibri Light" panose="020F0302020204030204" pitchFamily="34" charset="0"/>
              </a:rPr>
              <a:t>Yêu cầu phi chức năng</a:t>
            </a:r>
            <a:r>
              <a:rPr lang="en-US" b="1" dirty="0">
                <a:latin typeface="Calibri Light" panose="020F0302020204030204" pitchFamily="34" charset="0"/>
                <a:cs typeface="Calibri Light" panose="020F0302020204030204" pitchFamily="34" charset="0"/>
              </a:rPr>
              <a:t>: </a:t>
            </a:r>
            <a:r>
              <a:rPr lang="vi-VN" dirty="0">
                <a:latin typeface="Calibri Light" panose="020F0302020204030204" pitchFamily="34" charset="0"/>
                <a:cs typeface="Calibri Light" panose="020F0302020204030204" pitchFamily="34" charset="0"/>
              </a:rPr>
              <a:t>Để đảm bảo trải nghiệm người dùng và tính ổn định, hệ thống cần đáp ứng các tiêu chuẩn kỹ thuật sau:</a:t>
            </a:r>
          </a:p>
          <a:p>
            <a:r>
              <a:rPr lang="vi-VN" dirty="0">
                <a:latin typeface="Calibri Light" panose="020F0302020204030204" pitchFamily="34" charset="0"/>
                <a:cs typeface="Calibri Light" panose="020F0302020204030204" pitchFamily="34" charset="0"/>
              </a:rPr>
              <a:t>Hiệu năng: Tốc độ phản hồi nhanh, các thao tác và thông báo</a:t>
            </a:r>
          </a:p>
          <a:p>
            <a:r>
              <a:rPr lang="vi-VN" dirty="0">
                <a:latin typeface="Calibri Light" panose="020F0302020204030204" pitchFamily="34" charset="0"/>
                <a:cs typeface="Calibri Light" panose="020F0302020204030204" pitchFamily="34" charset="0"/>
              </a:rPr>
              <a:t>Bảo mật: Mã hóa mật khẩu bằng Bcrypt, xác thực qua JWT và phân quyền truy cập chặt chẽ.</a:t>
            </a:r>
          </a:p>
          <a:p>
            <a:r>
              <a:rPr lang="vi-VN" dirty="0">
                <a:latin typeface="Calibri Light" panose="020F0302020204030204" pitchFamily="34" charset="0"/>
                <a:cs typeface="Calibri Light" panose="020F0302020204030204" pitchFamily="34" charset="0"/>
              </a:rPr>
              <a:t>Khả năng sử dụng: Giao diện trực quan, đơn giản, người dùng có thể thao tác dễ dàng mà không cần hướng dẫn</a:t>
            </a:r>
          </a:p>
          <a:p>
            <a:r>
              <a:rPr lang="vi-VN" dirty="0">
                <a:latin typeface="Calibri Light" panose="020F0302020204030204" pitchFamily="34" charset="0"/>
                <a:cs typeface="Calibri Light" panose="020F0302020204030204" pitchFamily="34" charset="0"/>
              </a:rPr>
              <a:t>Bảo trì &amp; Mở rộng: Tách biệt hoàn toàn Frontend/Backend, sử dụng kiến trúc RESTful API và cơ sở dữ liệu MongoDB</a:t>
            </a:r>
          </a:p>
          <a:p>
            <a:r>
              <a:rPr lang="vi-VN" dirty="0">
                <a:latin typeface="Calibri Light" panose="020F0302020204030204" pitchFamily="34" charset="0"/>
                <a:cs typeface="Calibri Light" panose="020F0302020204030204" pitchFamily="34" charset="0"/>
              </a:rPr>
              <a:t>Tương thích &amp; Hiển thị: Hỗ trợ tốt các trình duyệt phổ biến (Chrome, Edge, Cốc Cốc) và hiển thị tối ưu (Responsive) trên cả điện thoại lẫn máy tính</a:t>
            </a:r>
            <a:endParaRPr lang="en-US" dirty="0">
              <a:latin typeface="Calibri Light" panose="020F0302020204030204" pitchFamily="34" charset="0"/>
              <a:cs typeface="Calibri Light" panose="020F0302020204030204" pitchFamily="34" charset="0"/>
            </a:endParaRPr>
          </a:p>
          <a:p>
            <a:pPr marL="0" indent="0">
              <a:buNone/>
            </a:pPr>
            <a:endParaRPr lang="vi-VN" dirty="0">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894532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7D7FE-BDD6-DDBD-60F5-397901540F03}"/>
              </a:ext>
            </a:extLst>
          </p:cNvPr>
          <p:cNvSpPr>
            <a:spLocks noGrp="1"/>
          </p:cNvSpPr>
          <p:nvPr>
            <p:ph type="title"/>
          </p:nvPr>
        </p:nvSpPr>
        <p:spPr/>
        <p:txBody>
          <a:bodyPr/>
          <a:lstStyle/>
          <a:p>
            <a:r>
              <a:rPr lang="en-US" b="1" dirty="0"/>
              <a:t>3. </a:t>
            </a:r>
            <a:r>
              <a:rPr lang="en-US" b="1" dirty="0" err="1"/>
              <a:t>Thực</a:t>
            </a:r>
            <a:r>
              <a:rPr lang="en-US" b="1" dirty="0"/>
              <a:t> </a:t>
            </a:r>
            <a:r>
              <a:rPr lang="en-US" b="1" dirty="0" err="1"/>
              <a:t>hiện</a:t>
            </a:r>
            <a:r>
              <a:rPr lang="en-US" b="1" dirty="0"/>
              <a:t> </a:t>
            </a:r>
            <a:r>
              <a:rPr lang="en-US" b="1" dirty="0" err="1"/>
              <a:t>hóa</a:t>
            </a:r>
            <a:r>
              <a:rPr lang="en-US" b="1" dirty="0"/>
              <a:t> </a:t>
            </a:r>
            <a:r>
              <a:rPr lang="en-US" b="1" dirty="0" err="1"/>
              <a:t>nghiên</a:t>
            </a:r>
            <a:r>
              <a:rPr lang="en-US" b="1" dirty="0"/>
              <a:t> </a:t>
            </a:r>
            <a:r>
              <a:rPr lang="en-US" b="1" dirty="0" err="1"/>
              <a:t>cứu</a:t>
            </a:r>
            <a:r>
              <a:rPr lang="en-US" b="1" dirty="0"/>
              <a:t>:</a:t>
            </a:r>
            <a:endParaRPr lang="vi-VN" dirty="0"/>
          </a:p>
        </p:txBody>
      </p:sp>
      <p:sp>
        <p:nvSpPr>
          <p:cNvPr id="3" name="Content Placeholder 2">
            <a:extLst>
              <a:ext uri="{FF2B5EF4-FFF2-40B4-BE49-F238E27FC236}">
                <a16:creationId xmlns:a16="http://schemas.microsoft.com/office/drawing/2014/main" id="{76A96467-F6E5-7930-67F6-AD70036CA357}"/>
              </a:ext>
            </a:extLst>
          </p:cNvPr>
          <p:cNvSpPr>
            <a:spLocks noGrp="1"/>
          </p:cNvSpPr>
          <p:nvPr>
            <p:ph idx="1"/>
          </p:nvPr>
        </p:nvSpPr>
        <p:spPr>
          <a:xfrm>
            <a:off x="4831343" y="6330657"/>
            <a:ext cx="2529312" cy="324436"/>
          </a:xfrm>
        </p:spPr>
        <p:txBody>
          <a:bodyPr>
            <a:normAutofit fontScale="55000" lnSpcReduction="20000"/>
          </a:bodyPr>
          <a:lstStyle/>
          <a:p>
            <a:pPr marL="0" indent="0">
              <a:buNone/>
            </a:pPr>
            <a:r>
              <a:rPr lang="en-US" dirty="0" err="1"/>
              <a:t>Sơ</a:t>
            </a:r>
            <a:r>
              <a:rPr lang="en-US" dirty="0"/>
              <a:t> </a:t>
            </a:r>
            <a:r>
              <a:rPr lang="en-US" dirty="0" err="1"/>
              <a:t>đồ</a:t>
            </a:r>
            <a:r>
              <a:rPr lang="en-US" dirty="0"/>
              <a:t> </a:t>
            </a:r>
            <a:r>
              <a:rPr lang="en-US" dirty="0" err="1"/>
              <a:t>Thực</a:t>
            </a:r>
            <a:r>
              <a:rPr lang="en-US" dirty="0"/>
              <a:t> </a:t>
            </a:r>
            <a:r>
              <a:rPr lang="en-US" dirty="0" err="1"/>
              <a:t>thể</a:t>
            </a:r>
            <a:r>
              <a:rPr lang="en-US" dirty="0"/>
              <a:t> - </a:t>
            </a:r>
            <a:r>
              <a:rPr lang="en-US" dirty="0" err="1"/>
              <a:t>mối</a:t>
            </a:r>
            <a:r>
              <a:rPr lang="en-US" dirty="0"/>
              <a:t> </a:t>
            </a:r>
            <a:r>
              <a:rPr lang="en-US" dirty="0" err="1"/>
              <a:t>quan</a:t>
            </a:r>
            <a:r>
              <a:rPr lang="en-US" dirty="0"/>
              <a:t> </a:t>
            </a:r>
            <a:r>
              <a:rPr lang="en-US" dirty="0" err="1"/>
              <a:t>hệ</a:t>
            </a:r>
            <a:r>
              <a:rPr lang="en-US" dirty="0"/>
              <a:t>:</a:t>
            </a:r>
            <a:endParaRPr lang="vi-VN" dirty="0"/>
          </a:p>
        </p:txBody>
      </p:sp>
      <p:pic>
        <p:nvPicPr>
          <p:cNvPr id="4" name="Picture 3">
            <a:extLst>
              <a:ext uri="{FF2B5EF4-FFF2-40B4-BE49-F238E27FC236}">
                <a16:creationId xmlns:a16="http://schemas.microsoft.com/office/drawing/2014/main" id="{41EE5313-474D-A0A2-DD9A-447442F88495}"/>
              </a:ext>
            </a:extLst>
          </p:cNvPr>
          <p:cNvPicPr>
            <a:picLocks noChangeAspect="1"/>
          </p:cNvPicPr>
          <p:nvPr/>
        </p:nvPicPr>
        <p:blipFill>
          <a:blip r:embed="rId2"/>
          <a:stretch>
            <a:fillRect/>
          </a:stretch>
        </p:blipFill>
        <p:spPr>
          <a:xfrm>
            <a:off x="1849173" y="1634015"/>
            <a:ext cx="8493653" cy="4537088"/>
          </a:xfrm>
          <a:prstGeom prst="rect">
            <a:avLst/>
          </a:prstGeom>
        </p:spPr>
      </p:pic>
    </p:spTree>
    <p:extLst>
      <p:ext uri="{BB962C8B-B14F-4D97-AF65-F5344CB8AC3E}">
        <p14:creationId xmlns:p14="http://schemas.microsoft.com/office/powerpoint/2010/main" val="621135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E26CE-3180-A80A-E1ED-750F4E8CA3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4045D9-9547-F38F-2B49-14C263BD620F}"/>
              </a:ext>
            </a:extLst>
          </p:cNvPr>
          <p:cNvSpPr>
            <a:spLocks noGrp="1"/>
          </p:cNvSpPr>
          <p:nvPr>
            <p:ph type="title"/>
          </p:nvPr>
        </p:nvSpPr>
        <p:spPr/>
        <p:txBody>
          <a:bodyPr/>
          <a:lstStyle/>
          <a:p>
            <a:r>
              <a:rPr lang="en-US" b="1" dirty="0"/>
              <a:t>3. </a:t>
            </a:r>
            <a:r>
              <a:rPr lang="en-US" b="1" dirty="0" err="1"/>
              <a:t>Thực</a:t>
            </a:r>
            <a:r>
              <a:rPr lang="en-US" b="1" dirty="0"/>
              <a:t> </a:t>
            </a:r>
            <a:r>
              <a:rPr lang="en-US" b="1" dirty="0" err="1"/>
              <a:t>hiện</a:t>
            </a:r>
            <a:r>
              <a:rPr lang="en-US" b="1" dirty="0"/>
              <a:t> </a:t>
            </a:r>
            <a:r>
              <a:rPr lang="en-US" b="1" dirty="0" err="1"/>
              <a:t>hóa</a:t>
            </a:r>
            <a:r>
              <a:rPr lang="en-US" b="1" dirty="0"/>
              <a:t> </a:t>
            </a:r>
            <a:r>
              <a:rPr lang="en-US" b="1" dirty="0" err="1"/>
              <a:t>nghiên</a:t>
            </a:r>
            <a:r>
              <a:rPr lang="en-US" b="1" dirty="0"/>
              <a:t> </a:t>
            </a:r>
            <a:r>
              <a:rPr lang="en-US" b="1" dirty="0" err="1"/>
              <a:t>cứu</a:t>
            </a:r>
            <a:r>
              <a:rPr lang="en-US" b="1" dirty="0"/>
              <a:t>:</a:t>
            </a:r>
            <a:endParaRPr lang="vi-VN" dirty="0"/>
          </a:p>
        </p:txBody>
      </p:sp>
      <p:sp>
        <p:nvSpPr>
          <p:cNvPr id="3" name="Content Placeholder 2">
            <a:extLst>
              <a:ext uri="{FF2B5EF4-FFF2-40B4-BE49-F238E27FC236}">
                <a16:creationId xmlns:a16="http://schemas.microsoft.com/office/drawing/2014/main" id="{E8C50E56-C70C-654C-66CB-B7CE6504FCDE}"/>
              </a:ext>
            </a:extLst>
          </p:cNvPr>
          <p:cNvSpPr>
            <a:spLocks noGrp="1"/>
          </p:cNvSpPr>
          <p:nvPr>
            <p:ph idx="1"/>
          </p:nvPr>
        </p:nvSpPr>
        <p:spPr>
          <a:xfrm>
            <a:off x="4247479" y="6330657"/>
            <a:ext cx="4059160" cy="324436"/>
          </a:xfrm>
        </p:spPr>
        <p:txBody>
          <a:bodyPr>
            <a:normAutofit fontScale="55000" lnSpcReduction="20000"/>
          </a:bodyPr>
          <a:lstStyle/>
          <a:p>
            <a:pPr marL="0" indent="0">
              <a:buNone/>
            </a:pPr>
            <a:r>
              <a:rPr lang="en-US" dirty="0" err="1"/>
              <a:t>Sơ</a:t>
            </a:r>
            <a:r>
              <a:rPr lang="en-US" dirty="0"/>
              <a:t> </a:t>
            </a:r>
            <a:r>
              <a:rPr lang="en-US" dirty="0" err="1"/>
              <a:t>đồ</a:t>
            </a:r>
            <a:r>
              <a:rPr lang="en-US" dirty="0"/>
              <a:t> </a:t>
            </a:r>
            <a:r>
              <a:rPr lang="en-US" dirty="0" err="1"/>
              <a:t>Usecase</a:t>
            </a:r>
            <a:r>
              <a:rPr lang="en-US" dirty="0"/>
              <a:t> </a:t>
            </a:r>
            <a:r>
              <a:rPr lang="en-US" dirty="0" err="1"/>
              <a:t>của</a:t>
            </a:r>
            <a:r>
              <a:rPr lang="en-US" dirty="0"/>
              <a:t> </a:t>
            </a:r>
            <a:r>
              <a:rPr lang="en-US" dirty="0" err="1"/>
              <a:t>các</a:t>
            </a:r>
            <a:r>
              <a:rPr lang="en-US" dirty="0"/>
              <a:t> </a:t>
            </a:r>
            <a:r>
              <a:rPr lang="en-US" dirty="0" err="1"/>
              <a:t>quyền</a:t>
            </a:r>
            <a:r>
              <a:rPr lang="en-US" dirty="0"/>
              <a:t> </a:t>
            </a:r>
            <a:r>
              <a:rPr lang="en-US" dirty="0" err="1"/>
              <a:t>trong</a:t>
            </a:r>
            <a:r>
              <a:rPr lang="en-US" dirty="0"/>
              <a:t> </a:t>
            </a:r>
            <a:r>
              <a:rPr lang="en-US" dirty="0" err="1"/>
              <a:t>hệ</a:t>
            </a:r>
            <a:r>
              <a:rPr lang="en-US" dirty="0"/>
              <a:t> </a:t>
            </a:r>
            <a:r>
              <a:rPr lang="en-US" dirty="0" err="1"/>
              <a:t>thống</a:t>
            </a:r>
            <a:endParaRPr lang="vi-VN" dirty="0"/>
          </a:p>
        </p:txBody>
      </p:sp>
      <p:pic>
        <p:nvPicPr>
          <p:cNvPr id="9" name="Picture 8">
            <a:extLst>
              <a:ext uri="{FF2B5EF4-FFF2-40B4-BE49-F238E27FC236}">
                <a16:creationId xmlns:a16="http://schemas.microsoft.com/office/drawing/2014/main" id="{F08CC6B3-96AF-0732-A916-8CC236DE79DF}"/>
              </a:ext>
            </a:extLst>
          </p:cNvPr>
          <p:cNvPicPr>
            <a:picLocks noChangeAspect="1"/>
          </p:cNvPicPr>
          <p:nvPr/>
        </p:nvPicPr>
        <p:blipFill>
          <a:blip r:embed="rId2"/>
          <a:stretch>
            <a:fillRect/>
          </a:stretch>
        </p:blipFill>
        <p:spPr>
          <a:xfrm>
            <a:off x="2308634" y="1355840"/>
            <a:ext cx="3606305" cy="4719036"/>
          </a:xfrm>
          <a:prstGeom prst="rect">
            <a:avLst/>
          </a:prstGeom>
        </p:spPr>
      </p:pic>
      <p:pic>
        <p:nvPicPr>
          <p:cNvPr id="10" name="Picture 9">
            <a:extLst>
              <a:ext uri="{FF2B5EF4-FFF2-40B4-BE49-F238E27FC236}">
                <a16:creationId xmlns:a16="http://schemas.microsoft.com/office/drawing/2014/main" id="{EED5C53E-8ED2-D7BF-747D-3AA93E71636F}"/>
              </a:ext>
            </a:extLst>
          </p:cNvPr>
          <p:cNvPicPr>
            <a:picLocks noChangeAspect="1"/>
          </p:cNvPicPr>
          <p:nvPr/>
        </p:nvPicPr>
        <p:blipFill>
          <a:blip r:embed="rId3"/>
          <a:stretch>
            <a:fillRect/>
          </a:stretch>
        </p:blipFill>
        <p:spPr>
          <a:xfrm>
            <a:off x="6277059" y="1356694"/>
            <a:ext cx="4170631" cy="4718182"/>
          </a:xfrm>
          <a:prstGeom prst="rect">
            <a:avLst/>
          </a:prstGeom>
        </p:spPr>
      </p:pic>
    </p:spTree>
    <p:extLst>
      <p:ext uri="{BB962C8B-B14F-4D97-AF65-F5344CB8AC3E}">
        <p14:creationId xmlns:p14="http://schemas.microsoft.com/office/powerpoint/2010/main" val="31141355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678A5-3D4B-CDF6-8A73-888250C545DD}"/>
              </a:ext>
            </a:extLst>
          </p:cNvPr>
          <p:cNvSpPr>
            <a:spLocks noGrp="1"/>
          </p:cNvSpPr>
          <p:nvPr>
            <p:ph type="title"/>
          </p:nvPr>
        </p:nvSpPr>
        <p:spPr/>
        <p:txBody>
          <a:bodyPr/>
          <a:lstStyle/>
          <a:p>
            <a:r>
              <a:rPr lang="en-US" b="1" dirty="0"/>
              <a:t>4. </a:t>
            </a:r>
            <a:r>
              <a:rPr lang="en-US" b="1" dirty="0" err="1"/>
              <a:t>Kết</a:t>
            </a:r>
            <a:r>
              <a:rPr lang="en-US" b="1" dirty="0"/>
              <a:t> </a:t>
            </a:r>
            <a:r>
              <a:rPr lang="en-US" b="1" dirty="0" err="1"/>
              <a:t>quả</a:t>
            </a:r>
            <a:r>
              <a:rPr lang="en-US" b="1" dirty="0"/>
              <a:t> </a:t>
            </a:r>
            <a:r>
              <a:rPr lang="en-US" b="1" dirty="0" err="1"/>
              <a:t>đạt</a:t>
            </a:r>
            <a:r>
              <a:rPr lang="en-US" b="1" dirty="0"/>
              <a:t> </a:t>
            </a:r>
            <a:r>
              <a:rPr lang="en-US" b="1" dirty="0" err="1"/>
              <a:t>được</a:t>
            </a:r>
            <a:r>
              <a:rPr lang="en-US" b="1" dirty="0"/>
              <a:t>, </a:t>
            </a:r>
            <a:r>
              <a:rPr lang="en-US" b="1" dirty="0" err="1"/>
              <a:t>kết</a:t>
            </a:r>
            <a:r>
              <a:rPr lang="en-US" b="1" dirty="0"/>
              <a:t> </a:t>
            </a:r>
            <a:r>
              <a:rPr lang="en-US" b="1" dirty="0" err="1"/>
              <a:t>luận</a:t>
            </a:r>
            <a:r>
              <a:rPr lang="en-US" b="1" dirty="0"/>
              <a:t> </a:t>
            </a:r>
            <a:r>
              <a:rPr lang="en-US" b="1" dirty="0" err="1"/>
              <a:t>và</a:t>
            </a:r>
            <a:r>
              <a:rPr lang="en-US" b="1" dirty="0"/>
              <a:t> </a:t>
            </a:r>
            <a:r>
              <a:rPr lang="en-US" b="1" dirty="0" err="1"/>
              <a:t>hướng</a:t>
            </a:r>
            <a:r>
              <a:rPr lang="en-US" b="1" dirty="0"/>
              <a:t> </a:t>
            </a:r>
            <a:r>
              <a:rPr lang="en-US" b="1" dirty="0" err="1"/>
              <a:t>phát</a:t>
            </a:r>
            <a:r>
              <a:rPr lang="en-US" b="1" dirty="0"/>
              <a:t> </a:t>
            </a:r>
            <a:r>
              <a:rPr lang="en-US" b="1" dirty="0" err="1"/>
              <a:t>triển</a:t>
            </a:r>
            <a:r>
              <a:rPr lang="en-US" b="1" dirty="0"/>
              <a:t>:</a:t>
            </a:r>
            <a:endParaRPr lang="vi-VN" b="1" dirty="0"/>
          </a:p>
        </p:txBody>
      </p:sp>
      <p:sp>
        <p:nvSpPr>
          <p:cNvPr id="3" name="Content Placeholder 2">
            <a:extLst>
              <a:ext uri="{FF2B5EF4-FFF2-40B4-BE49-F238E27FC236}">
                <a16:creationId xmlns:a16="http://schemas.microsoft.com/office/drawing/2014/main" id="{6ABB22D1-5C18-D5B9-AD05-1D904F4F1282}"/>
              </a:ext>
            </a:extLst>
          </p:cNvPr>
          <p:cNvSpPr>
            <a:spLocks noGrp="1"/>
          </p:cNvSpPr>
          <p:nvPr>
            <p:ph idx="1"/>
          </p:nvPr>
        </p:nvSpPr>
        <p:spPr/>
        <p:txBody>
          <a:bodyPr>
            <a:noAutofit/>
          </a:bodyPr>
          <a:lstStyle/>
          <a:p>
            <a:pPr marL="0" indent="0">
              <a:buNone/>
            </a:pPr>
            <a:r>
              <a:rPr lang="en-US" sz="2200" b="1" dirty="0" err="1">
                <a:latin typeface="Calibri Light" panose="020F0302020204030204" pitchFamily="34" charset="0"/>
                <a:cs typeface="Calibri Light" panose="020F0302020204030204" pitchFamily="34" charset="0"/>
              </a:rPr>
              <a:t>Kết</a:t>
            </a:r>
            <a:r>
              <a:rPr lang="en-US" sz="2200" b="1" dirty="0">
                <a:latin typeface="Calibri Light" panose="020F0302020204030204" pitchFamily="34" charset="0"/>
                <a:cs typeface="Calibri Light" panose="020F0302020204030204" pitchFamily="34" charset="0"/>
              </a:rPr>
              <a:t> </a:t>
            </a:r>
            <a:r>
              <a:rPr lang="en-US" sz="2200" b="1" dirty="0" err="1">
                <a:latin typeface="Calibri Light" panose="020F0302020204030204" pitchFamily="34" charset="0"/>
                <a:cs typeface="Calibri Light" panose="020F0302020204030204" pitchFamily="34" charset="0"/>
              </a:rPr>
              <a:t>quả</a:t>
            </a:r>
            <a:r>
              <a:rPr lang="en-US" sz="2200" b="1" dirty="0">
                <a:latin typeface="Calibri Light" panose="020F0302020204030204" pitchFamily="34" charset="0"/>
                <a:cs typeface="Calibri Light" panose="020F0302020204030204" pitchFamily="34" charset="0"/>
              </a:rPr>
              <a:t> </a:t>
            </a:r>
            <a:r>
              <a:rPr lang="en-US" sz="2200" b="1" dirty="0" err="1">
                <a:latin typeface="Calibri Light" panose="020F0302020204030204" pitchFamily="34" charset="0"/>
                <a:cs typeface="Calibri Light" panose="020F0302020204030204" pitchFamily="34" charset="0"/>
              </a:rPr>
              <a:t>đạt</a:t>
            </a:r>
            <a:r>
              <a:rPr lang="en-US" sz="2200" b="1" dirty="0">
                <a:latin typeface="Calibri Light" panose="020F0302020204030204" pitchFamily="34" charset="0"/>
                <a:cs typeface="Calibri Light" panose="020F0302020204030204" pitchFamily="34" charset="0"/>
              </a:rPr>
              <a:t> </a:t>
            </a:r>
            <a:r>
              <a:rPr lang="en-US" sz="2200" b="1" dirty="0" err="1">
                <a:latin typeface="Calibri Light" panose="020F0302020204030204" pitchFamily="34" charset="0"/>
                <a:cs typeface="Calibri Light" panose="020F0302020204030204" pitchFamily="34" charset="0"/>
              </a:rPr>
              <a:t>được</a:t>
            </a:r>
            <a:r>
              <a:rPr lang="en-US" sz="2200" b="1" dirty="0">
                <a:latin typeface="Calibri Light" panose="020F0302020204030204" pitchFamily="34" charset="0"/>
                <a:cs typeface="Calibri Light" panose="020F0302020204030204" pitchFamily="34" charset="0"/>
              </a:rPr>
              <a:t>:</a:t>
            </a:r>
          </a:p>
          <a:p>
            <a:r>
              <a:rPr lang="vi-VN" sz="2200" dirty="0">
                <a:latin typeface="Calibri Light" panose="020F0302020204030204" pitchFamily="34" charset="0"/>
                <a:cs typeface="Calibri Light" panose="020F0302020204030204" pitchFamily="34" charset="0"/>
              </a:rPr>
              <a:t>Xây dựng thành công website bán kính tích hợp chức năng thử kính ảo</a:t>
            </a:r>
            <a:endParaRPr lang="en-US" sz="2200" dirty="0">
              <a:latin typeface="Calibri Light" panose="020F0302020204030204" pitchFamily="34" charset="0"/>
              <a:cs typeface="Calibri Light" panose="020F0302020204030204" pitchFamily="34" charset="0"/>
            </a:endParaRPr>
          </a:p>
          <a:p>
            <a:r>
              <a:rPr lang="vi-VN" sz="2200" dirty="0">
                <a:latin typeface="Calibri Light" panose="020F0302020204030204" pitchFamily="34" charset="0"/>
                <a:cs typeface="Calibri Light" panose="020F0302020204030204" pitchFamily="34" charset="0"/>
              </a:rPr>
              <a:t>Hoàn thiện đầy đủ quy trình thương mại điện tử: quản lý sản phẩm, giỏ hàng, thanh toán, đơn hàng, ví điện tử, đánh giá, chat trực tuyến và quản lý hồ sơ kính thuốc</a:t>
            </a:r>
            <a:endParaRPr lang="en-US" sz="2200" dirty="0">
              <a:latin typeface="Calibri Light" panose="020F0302020204030204" pitchFamily="34" charset="0"/>
              <a:cs typeface="Calibri Light" panose="020F0302020204030204" pitchFamily="34" charset="0"/>
            </a:endParaRPr>
          </a:p>
          <a:p>
            <a:r>
              <a:rPr lang="vi-VN" sz="2200" dirty="0">
                <a:latin typeface="Calibri Light" panose="020F0302020204030204" pitchFamily="34" charset="0"/>
                <a:cs typeface="Calibri Light" panose="020F0302020204030204" pitchFamily="34" charset="0"/>
              </a:rPr>
              <a:t>Triển khai tính năng thử kính ảo sử dụng MediaPipe Face Landmarker và Three.js, hỗ trợ thử kính theo thời gian thực, chụp ảnh, quay video và chuyển đổi mẫu kính</a:t>
            </a:r>
            <a:endParaRPr lang="en-US" sz="2200" dirty="0">
              <a:latin typeface="Calibri Light" panose="020F0302020204030204" pitchFamily="34" charset="0"/>
              <a:cs typeface="Calibri Light" panose="020F0302020204030204" pitchFamily="34" charset="0"/>
            </a:endParaRPr>
          </a:p>
          <a:p>
            <a:r>
              <a:rPr lang="vi-VN" sz="2200" dirty="0">
                <a:latin typeface="Calibri Light" panose="020F0302020204030204" pitchFamily="34" charset="0"/>
                <a:cs typeface="Calibri Light" panose="020F0302020204030204" pitchFamily="34" charset="0"/>
              </a:rPr>
              <a:t>Xây dựng đầy đủ các phân hệ Customer, Staff, Admin, đáp ứng quy trình quản lý và vận hành thực tế</a:t>
            </a:r>
            <a:endParaRPr lang="en-US" sz="2200" dirty="0">
              <a:latin typeface="Calibri Light" panose="020F0302020204030204" pitchFamily="34" charset="0"/>
              <a:cs typeface="Calibri Light" panose="020F0302020204030204" pitchFamily="34" charset="0"/>
            </a:endParaRPr>
          </a:p>
          <a:p>
            <a:r>
              <a:rPr lang="vi-VN" sz="2200" dirty="0">
                <a:latin typeface="Calibri Light" panose="020F0302020204030204" pitchFamily="34" charset="0"/>
                <a:cs typeface="Calibri Light" panose="020F0302020204030204" pitchFamily="34" charset="0"/>
              </a:rPr>
              <a:t>Áp dụng kiến trúc React + Node.js + Express + MongoDB, giao tiếp qua RESTful API và Socket.IO</a:t>
            </a:r>
            <a:endParaRPr lang="en-US" sz="2200" dirty="0">
              <a:latin typeface="Calibri Light" panose="020F0302020204030204" pitchFamily="34" charset="0"/>
              <a:cs typeface="Calibri Light" panose="020F0302020204030204" pitchFamily="34" charset="0"/>
            </a:endParaRPr>
          </a:p>
          <a:p>
            <a:r>
              <a:rPr lang="vi-VN" sz="2200" dirty="0">
                <a:latin typeface="Calibri Light" panose="020F0302020204030204" pitchFamily="34" charset="0"/>
                <a:cs typeface="Calibri Light" panose="020F0302020204030204" pitchFamily="34" charset="0"/>
              </a:rPr>
              <a:t>Tích hợp các cơ chế bảo mật như JWT, phân quyền theo vai trò, mã hóa mật khẩu</a:t>
            </a:r>
          </a:p>
        </p:txBody>
      </p:sp>
    </p:spTree>
    <p:extLst>
      <p:ext uri="{BB962C8B-B14F-4D97-AF65-F5344CB8AC3E}">
        <p14:creationId xmlns:p14="http://schemas.microsoft.com/office/powerpoint/2010/main" val="799150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FACBA-5DC1-0469-C252-900075A879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20F2E6-DC7B-9AA8-DFFC-B7206B04599F}"/>
              </a:ext>
            </a:extLst>
          </p:cNvPr>
          <p:cNvSpPr>
            <a:spLocks noGrp="1"/>
          </p:cNvSpPr>
          <p:nvPr>
            <p:ph type="title"/>
          </p:nvPr>
        </p:nvSpPr>
        <p:spPr/>
        <p:txBody>
          <a:bodyPr/>
          <a:lstStyle/>
          <a:p>
            <a:r>
              <a:rPr lang="en-US" b="1" dirty="0"/>
              <a:t>4. </a:t>
            </a:r>
            <a:r>
              <a:rPr lang="en-US" b="1" dirty="0" err="1"/>
              <a:t>Kết</a:t>
            </a:r>
            <a:r>
              <a:rPr lang="en-US" b="1" dirty="0"/>
              <a:t> </a:t>
            </a:r>
            <a:r>
              <a:rPr lang="en-US" b="1" dirty="0" err="1"/>
              <a:t>quả</a:t>
            </a:r>
            <a:r>
              <a:rPr lang="en-US" b="1" dirty="0"/>
              <a:t> </a:t>
            </a:r>
            <a:r>
              <a:rPr lang="en-US" b="1" dirty="0" err="1"/>
              <a:t>đạt</a:t>
            </a:r>
            <a:r>
              <a:rPr lang="en-US" b="1" dirty="0"/>
              <a:t> </a:t>
            </a:r>
            <a:r>
              <a:rPr lang="en-US" b="1" dirty="0" err="1"/>
              <a:t>được</a:t>
            </a:r>
            <a:r>
              <a:rPr lang="en-US" b="1" dirty="0"/>
              <a:t>, </a:t>
            </a:r>
            <a:r>
              <a:rPr lang="en-US" b="1" dirty="0" err="1"/>
              <a:t>kết</a:t>
            </a:r>
            <a:r>
              <a:rPr lang="en-US" b="1" dirty="0"/>
              <a:t> </a:t>
            </a:r>
            <a:r>
              <a:rPr lang="en-US" b="1" dirty="0" err="1"/>
              <a:t>luận</a:t>
            </a:r>
            <a:r>
              <a:rPr lang="en-US" b="1" dirty="0"/>
              <a:t> </a:t>
            </a:r>
            <a:r>
              <a:rPr lang="en-US" b="1" dirty="0" err="1"/>
              <a:t>và</a:t>
            </a:r>
            <a:r>
              <a:rPr lang="en-US" b="1" dirty="0"/>
              <a:t> </a:t>
            </a:r>
            <a:r>
              <a:rPr lang="en-US" b="1" dirty="0" err="1"/>
              <a:t>hướng</a:t>
            </a:r>
            <a:r>
              <a:rPr lang="en-US" b="1" dirty="0"/>
              <a:t> </a:t>
            </a:r>
            <a:r>
              <a:rPr lang="en-US" b="1" dirty="0" err="1"/>
              <a:t>phát</a:t>
            </a:r>
            <a:r>
              <a:rPr lang="en-US" b="1" dirty="0"/>
              <a:t> </a:t>
            </a:r>
            <a:r>
              <a:rPr lang="en-US" b="1" dirty="0" err="1"/>
              <a:t>triển</a:t>
            </a:r>
            <a:r>
              <a:rPr lang="en-US" b="1" dirty="0"/>
              <a:t>:</a:t>
            </a:r>
            <a:endParaRPr lang="vi-VN" b="1" dirty="0"/>
          </a:p>
        </p:txBody>
      </p:sp>
      <p:sp>
        <p:nvSpPr>
          <p:cNvPr id="3" name="Content Placeholder 2">
            <a:extLst>
              <a:ext uri="{FF2B5EF4-FFF2-40B4-BE49-F238E27FC236}">
                <a16:creationId xmlns:a16="http://schemas.microsoft.com/office/drawing/2014/main" id="{A497CA31-26D4-12A1-06B1-F6FE1A919925}"/>
              </a:ext>
            </a:extLst>
          </p:cNvPr>
          <p:cNvSpPr>
            <a:spLocks noGrp="1"/>
          </p:cNvSpPr>
          <p:nvPr>
            <p:ph idx="1"/>
          </p:nvPr>
        </p:nvSpPr>
        <p:spPr/>
        <p:txBody>
          <a:bodyPr>
            <a:noAutofit/>
          </a:bodyPr>
          <a:lstStyle/>
          <a:p>
            <a:pPr marL="0" indent="0">
              <a:buNone/>
            </a:pPr>
            <a:r>
              <a:rPr lang="en-US" sz="2400" b="1" dirty="0" err="1">
                <a:latin typeface="Calibri Light" panose="020F0302020204030204" pitchFamily="34" charset="0"/>
                <a:cs typeface="Calibri Light" panose="020F0302020204030204" pitchFamily="34" charset="0"/>
              </a:rPr>
              <a:t>Hạn</a:t>
            </a:r>
            <a:r>
              <a:rPr lang="en-US" sz="2400" b="1" dirty="0">
                <a:latin typeface="Calibri Light" panose="020F0302020204030204" pitchFamily="34" charset="0"/>
                <a:cs typeface="Calibri Light" panose="020F0302020204030204" pitchFamily="34" charset="0"/>
              </a:rPr>
              <a:t> </a:t>
            </a:r>
            <a:r>
              <a:rPr lang="en-US" sz="2400" b="1" dirty="0" err="1">
                <a:latin typeface="Calibri Light" panose="020F0302020204030204" pitchFamily="34" charset="0"/>
                <a:cs typeface="Calibri Light" panose="020F0302020204030204" pitchFamily="34" charset="0"/>
              </a:rPr>
              <a:t>chế</a:t>
            </a:r>
            <a:r>
              <a:rPr lang="en-US" sz="2400" b="1" dirty="0">
                <a:latin typeface="Calibri Light" panose="020F0302020204030204" pitchFamily="34" charset="0"/>
                <a:cs typeface="Calibri Light" panose="020F0302020204030204" pitchFamily="34" charset="0"/>
              </a:rPr>
              <a:t>:</a:t>
            </a:r>
          </a:p>
          <a:p>
            <a:r>
              <a:rPr lang="vi-VN" sz="2400" dirty="0">
                <a:latin typeface="Calibri Light" panose="020F0302020204030204" pitchFamily="34" charset="0"/>
                <a:cs typeface="Calibri Light" panose="020F0302020204030204" pitchFamily="34" charset="0"/>
              </a:rPr>
              <a:t>Kính 3D được tạo ra chưa đúng với thực tế 100%</a:t>
            </a:r>
          </a:p>
          <a:p>
            <a:r>
              <a:rPr lang="vi-VN" sz="2400" dirty="0">
                <a:latin typeface="Calibri Light" panose="020F0302020204030204" pitchFamily="34" charset="0"/>
                <a:cs typeface="Calibri Light" panose="020F0302020204030204" pitchFamily="34" charset="0"/>
              </a:rPr>
              <a:t>Quy trình giải ngân từ ví điện tử vẫn thực hiện thủ công</a:t>
            </a:r>
          </a:p>
          <a:p>
            <a:r>
              <a:rPr lang="vi-VN" sz="2400" dirty="0">
                <a:latin typeface="Calibri Light" panose="020F0302020204030204" pitchFamily="34" charset="0"/>
                <a:cs typeface="Calibri Light" panose="020F0302020204030204" pitchFamily="34" charset="0"/>
              </a:rPr>
              <a:t>Chưa hỗ trợ mã giảm giá cho khách hàng</a:t>
            </a:r>
          </a:p>
          <a:p>
            <a:r>
              <a:rPr lang="vi-VN" sz="2400" dirty="0">
                <a:latin typeface="Calibri Light" panose="020F0302020204030204" pitchFamily="34" charset="0"/>
                <a:cs typeface="Calibri Light" panose="020F0302020204030204" pitchFamily="34" charset="0"/>
              </a:rPr>
              <a:t>Chưa tích hợp API của các đơn vị vận chuyển</a:t>
            </a:r>
          </a:p>
        </p:txBody>
      </p:sp>
    </p:spTree>
    <p:extLst>
      <p:ext uri="{BB962C8B-B14F-4D97-AF65-F5344CB8AC3E}">
        <p14:creationId xmlns:p14="http://schemas.microsoft.com/office/powerpoint/2010/main" val="3162994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AD6CC-0253-6013-3669-1832700A14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07690A-05AB-82AD-EA33-6631FD6A819C}"/>
              </a:ext>
            </a:extLst>
          </p:cNvPr>
          <p:cNvSpPr>
            <a:spLocks noGrp="1"/>
          </p:cNvSpPr>
          <p:nvPr>
            <p:ph type="title"/>
          </p:nvPr>
        </p:nvSpPr>
        <p:spPr/>
        <p:txBody>
          <a:bodyPr/>
          <a:lstStyle/>
          <a:p>
            <a:r>
              <a:rPr lang="en-US" b="1" dirty="0"/>
              <a:t>4. </a:t>
            </a:r>
            <a:r>
              <a:rPr lang="en-US" b="1" dirty="0" err="1"/>
              <a:t>Kết</a:t>
            </a:r>
            <a:r>
              <a:rPr lang="en-US" b="1" dirty="0"/>
              <a:t> </a:t>
            </a:r>
            <a:r>
              <a:rPr lang="en-US" b="1" dirty="0" err="1"/>
              <a:t>quả</a:t>
            </a:r>
            <a:r>
              <a:rPr lang="en-US" b="1" dirty="0"/>
              <a:t> </a:t>
            </a:r>
            <a:r>
              <a:rPr lang="en-US" b="1" dirty="0" err="1"/>
              <a:t>đạt</a:t>
            </a:r>
            <a:r>
              <a:rPr lang="en-US" b="1" dirty="0"/>
              <a:t> </a:t>
            </a:r>
            <a:r>
              <a:rPr lang="en-US" b="1" dirty="0" err="1"/>
              <a:t>được</a:t>
            </a:r>
            <a:r>
              <a:rPr lang="en-US" b="1" dirty="0"/>
              <a:t>, </a:t>
            </a:r>
            <a:r>
              <a:rPr lang="en-US" b="1" dirty="0" err="1"/>
              <a:t>kết</a:t>
            </a:r>
            <a:r>
              <a:rPr lang="en-US" b="1" dirty="0"/>
              <a:t> </a:t>
            </a:r>
            <a:r>
              <a:rPr lang="en-US" b="1" dirty="0" err="1"/>
              <a:t>luận</a:t>
            </a:r>
            <a:r>
              <a:rPr lang="en-US" b="1" dirty="0"/>
              <a:t> </a:t>
            </a:r>
            <a:r>
              <a:rPr lang="en-US" b="1" dirty="0" err="1"/>
              <a:t>và</a:t>
            </a:r>
            <a:r>
              <a:rPr lang="en-US" b="1" dirty="0"/>
              <a:t> </a:t>
            </a:r>
            <a:r>
              <a:rPr lang="en-US" b="1" dirty="0" err="1"/>
              <a:t>hướng</a:t>
            </a:r>
            <a:r>
              <a:rPr lang="en-US" b="1" dirty="0"/>
              <a:t> </a:t>
            </a:r>
            <a:r>
              <a:rPr lang="en-US" b="1" dirty="0" err="1"/>
              <a:t>phát</a:t>
            </a:r>
            <a:r>
              <a:rPr lang="en-US" b="1" dirty="0"/>
              <a:t> </a:t>
            </a:r>
            <a:r>
              <a:rPr lang="en-US" b="1" dirty="0" err="1"/>
              <a:t>triển</a:t>
            </a:r>
            <a:r>
              <a:rPr lang="en-US" b="1" dirty="0"/>
              <a:t>:</a:t>
            </a:r>
            <a:endParaRPr lang="vi-VN" b="1" dirty="0"/>
          </a:p>
        </p:txBody>
      </p:sp>
      <p:sp>
        <p:nvSpPr>
          <p:cNvPr id="3" name="Content Placeholder 2">
            <a:extLst>
              <a:ext uri="{FF2B5EF4-FFF2-40B4-BE49-F238E27FC236}">
                <a16:creationId xmlns:a16="http://schemas.microsoft.com/office/drawing/2014/main" id="{41876CCD-73C1-DAD6-7E2F-340406B68A2E}"/>
              </a:ext>
            </a:extLst>
          </p:cNvPr>
          <p:cNvSpPr>
            <a:spLocks noGrp="1"/>
          </p:cNvSpPr>
          <p:nvPr>
            <p:ph idx="1"/>
          </p:nvPr>
        </p:nvSpPr>
        <p:spPr/>
        <p:txBody>
          <a:bodyPr>
            <a:noAutofit/>
          </a:bodyPr>
          <a:lstStyle/>
          <a:p>
            <a:pPr marL="0" indent="0">
              <a:buNone/>
            </a:pPr>
            <a:r>
              <a:rPr lang="en-US" sz="2400" b="1" dirty="0" err="1">
                <a:latin typeface="Calibri Light" panose="020F0302020204030204" pitchFamily="34" charset="0"/>
                <a:cs typeface="Calibri Light" panose="020F0302020204030204" pitchFamily="34" charset="0"/>
              </a:rPr>
              <a:t>Hướng</a:t>
            </a:r>
            <a:r>
              <a:rPr lang="en-US" sz="2400" b="1" dirty="0">
                <a:latin typeface="Calibri Light" panose="020F0302020204030204" pitchFamily="34" charset="0"/>
                <a:cs typeface="Calibri Light" panose="020F0302020204030204" pitchFamily="34" charset="0"/>
              </a:rPr>
              <a:t> </a:t>
            </a:r>
            <a:r>
              <a:rPr lang="en-US" sz="2400" b="1" dirty="0" err="1">
                <a:latin typeface="Calibri Light" panose="020F0302020204030204" pitchFamily="34" charset="0"/>
                <a:cs typeface="Calibri Light" panose="020F0302020204030204" pitchFamily="34" charset="0"/>
              </a:rPr>
              <a:t>phát</a:t>
            </a:r>
            <a:r>
              <a:rPr lang="en-US" sz="2400" b="1" dirty="0">
                <a:latin typeface="Calibri Light" panose="020F0302020204030204" pitchFamily="34" charset="0"/>
                <a:cs typeface="Calibri Light" panose="020F0302020204030204" pitchFamily="34" charset="0"/>
              </a:rPr>
              <a:t> </a:t>
            </a:r>
            <a:r>
              <a:rPr lang="en-US" sz="2400" b="1" dirty="0" err="1">
                <a:latin typeface="Calibri Light" panose="020F0302020204030204" pitchFamily="34" charset="0"/>
                <a:cs typeface="Calibri Light" panose="020F0302020204030204" pitchFamily="34" charset="0"/>
              </a:rPr>
              <a:t>triển</a:t>
            </a:r>
            <a:r>
              <a:rPr lang="en-US" sz="2400" b="1" dirty="0">
                <a:latin typeface="Calibri Light" panose="020F0302020204030204" pitchFamily="34" charset="0"/>
                <a:cs typeface="Calibri Light" panose="020F0302020204030204" pitchFamily="34" charset="0"/>
              </a:rPr>
              <a:t>:</a:t>
            </a:r>
          </a:p>
          <a:p>
            <a:r>
              <a:rPr lang="vi-VN" sz="2400" dirty="0">
                <a:latin typeface="Calibri Light" panose="020F0302020204030204" pitchFamily="34" charset="0"/>
                <a:cs typeface="Calibri Light" panose="020F0302020204030204" pitchFamily="34" charset="0"/>
              </a:rPr>
              <a:t>Bổ sung hệ thống mã giảm giá</a:t>
            </a:r>
          </a:p>
          <a:p>
            <a:r>
              <a:rPr lang="vi-VN" sz="2400" dirty="0">
                <a:latin typeface="Calibri Light" panose="020F0302020204030204" pitchFamily="34" charset="0"/>
                <a:cs typeface="Calibri Light" panose="020F0302020204030204" pitchFamily="34" charset="0"/>
              </a:rPr>
              <a:t>Tự tạo ra công cụ thiết kế mô hình kính 3D</a:t>
            </a:r>
          </a:p>
          <a:p>
            <a:r>
              <a:rPr lang="vi-VN" sz="2400" dirty="0">
                <a:latin typeface="Calibri Light" panose="020F0302020204030204" pitchFamily="34" charset="0"/>
                <a:cs typeface="Calibri Light" panose="020F0302020204030204" pitchFamily="34" charset="0"/>
              </a:rPr>
              <a:t>Tích hợp API ngân hàng để tự động giải ngân</a:t>
            </a:r>
          </a:p>
          <a:p>
            <a:r>
              <a:rPr lang="vi-VN" sz="2400" dirty="0">
                <a:latin typeface="Calibri Light" panose="020F0302020204030204" pitchFamily="34" charset="0"/>
                <a:cs typeface="Calibri Light" panose="020F0302020204030204" pitchFamily="34" charset="0"/>
              </a:rPr>
              <a:t>Xây dựng hệ thống gợi ý sản phẩm thông minh bằng AI</a:t>
            </a:r>
          </a:p>
          <a:p>
            <a:r>
              <a:rPr lang="vi-VN" sz="2400" dirty="0">
                <a:latin typeface="Calibri Light" panose="020F0302020204030204" pitchFamily="34" charset="0"/>
                <a:cs typeface="Calibri Light" panose="020F0302020204030204" pitchFamily="34" charset="0"/>
              </a:rPr>
              <a:t>Tích hợp API của các đơn vị vận chuyển</a:t>
            </a:r>
          </a:p>
        </p:txBody>
      </p:sp>
    </p:spTree>
    <p:extLst>
      <p:ext uri="{BB962C8B-B14F-4D97-AF65-F5344CB8AC3E}">
        <p14:creationId xmlns:p14="http://schemas.microsoft.com/office/powerpoint/2010/main" val="213482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3711E-9366-BE9E-4448-45EA28336A71}"/>
              </a:ext>
            </a:extLst>
          </p:cNvPr>
          <p:cNvSpPr>
            <a:spLocks noGrp="1"/>
          </p:cNvSpPr>
          <p:nvPr>
            <p:ph type="title"/>
          </p:nvPr>
        </p:nvSpPr>
        <p:spPr/>
        <p:txBody>
          <a:bodyPr/>
          <a:lstStyle/>
          <a:p>
            <a:pPr algn="ctr"/>
            <a:r>
              <a:rPr lang="vi-VN" b="1" dirty="0">
                <a:latin typeface="+mn-lt"/>
                <a:cs typeface="Calibri Light" panose="020F0302020204030204" pitchFamily="34" charset="0"/>
              </a:rPr>
              <a:t>Demo dự án</a:t>
            </a:r>
          </a:p>
        </p:txBody>
      </p:sp>
      <p:sp>
        <p:nvSpPr>
          <p:cNvPr id="3" name="Content Placeholder 2">
            <a:extLst>
              <a:ext uri="{FF2B5EF4-FFF2-40B4-BE49-F238E27FC236}">
                <a16:creationId xmlns:a16="http://schemas.microsoft.com/office/drawing/2014/main" id="{C40DD5DA-AAD8-8FCB-B0E8-77C9358392AD}"/>
              </a:ext>
            </a:extLst>
          </p:cNvPr>
          <p:cNvSpPr>
            <a:spLocks noGrp="1"/>
          </p:cNvSpPr>
          <p:nvPr>
            <p:ph idx="1"/>
          </p:nvPr>
        </p:nvSpPr>
        <p:spPr/>
        <p:txBody>
          <a:bodyPr/>
          <a:lstStyle/>
          <a:p>
            <a:endParaRPr lang="vi-VN"/>
          </a:p>
        </p:txBody>
      </p:sp>
    </p:spTree>
    <p:extLst>
      <p:ext uri="{BB962C8B-B14F-4D97-AF65-F5344CB8AC3E}">
        <p14:creationId xmlns:p14="http://schemas.microsoft.com/office/powerpoint/2010/main" val="39564985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TotalTime>
  <Words>1432</Words>
  <Application>Microsoft Office PowerPoint</Application>
  <PresentationFormat>Widescreen</PresentationFormat>
  <Paragraphs>83</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ĐẠI HỌC TRÀ VINH TRƯỜNG KỸ THUẬT VÀ CÔNG NGHỆ  ĐỒ ÁN TỐT NGHIỆP  ĐỀ TÀI: XÂY DỰNG WEBSITE BÁN KÍNH  TÍCH HỢP CHỨC NĂNG THỬ KÍNH ẢO </vt:lpstr>
      <vt:lpstr>Nội dung trình bày:</vt:lpstr>
      <vt:lpstr>1. Tổng quan:</vt:lpstr>
      <vt:lpstr>1. Tổng quan:</vt:lpstr>
      <vt:lpstr>2. Công nghệ sử dụng:</vt:lpstr>
      <vt:lpstr>3. Thực hiện hóa nghiên cứu</vt:lpstr>
      <vt:lpstr>3. Thực hiện hóa nghiên cứu:</vt:lpstr>
      <vt:lpstr>3. Thực hiện hóa nghiên cứu:</vt:lpstr>
      <vt:lpstr>3. Thực hiện hóa nghiên cứu:</vt:lpstr>
      <vt:lpstr>4. Kết quả đạt được, kết luận và hướng phát triển:</vt:lpstr>
      <vt:lpstr>4. Kết quả đạt được, kết luận và hướng phát triển:</vt:lpstr>
      <vt:lpstr>4. Kết quả đạt được, kết luận và hướng phát triển:</vt:lpstr>
      <vt:lpstr>Demo dự án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Hồ Dũng</dc:creator>
  <cp:lastModifiedBy>Hồ Dũng</cp:lastModifiedBy>
  <cp:revision>12</cp:revision>
  <dcterms:created xsi:type="dcterms:W3CDTF">2026-07-07T03:38:58Z</dcterms:created>
  <dcterms:modified xsi:type="dcterms:W3CDTF">2026-07-07T06:22:53Z</dcterms:modified>
</cp:coreProperties>
</file>